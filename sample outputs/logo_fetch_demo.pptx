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5A6B78"/>
                </a:solidFill>
                <a:latin typeface="Poppins"/>
              </a:rPr>
              <a:t>Healthcare</a:t>
            </a:r>
            <a:r>
              <a:rPr sz="1000" b="0" i="0">
                <a:solidFill>
                  <a:srgbClr val="8A98A5"/>
                </a:solidFill>
                <a:latin typeface="Poppins"/>
              </a:rPr>
              <a:t>   /   </a:t>
            </a:r>
            <a:r>
              <a:rPr sz="1000" b="1" i="0">
                <a:solidFill>
                  <a:srgbClr val="5A6B78"/>
                </a:solidFill>
                <a:latin typeface="Poppins"/>
              </a:rPr>
              <a:t>Claims Processing</a:t>
            </a:r>
            <a:r>
              <a:rPr sz="1000" b="0" i="0">
                <a:solidFill>
                  <a:srgbClr val="8A98A5"/>
                </a:solidFill>
                <a:latin typeface="Poppins"/>
              </a:rPr>
              <a:t>   /   </a:t>
            </a:r>
            <a:r>
              <a:rPr sz="1000" b="1" i="0">
                <a:solidFill>
                  <a:srgbClr val="1A2330"/>
                </a:solidFill>
                <a:latin typeface="Poppins"/>
              </a:rPr>
              <a:t>Medical Claim Adjudication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1A2330"/>
                </a:solidFill>
                <a:latin typeface="Poppins"/>
              </a:rPr>
              <a:t>Medical claim adjudication</a:t>
            </a:r>
          </a:p>
          <a:p>
            <a:r>
              <a:rPr sz="1300">
                <a:solidFill>
                  <a:srgbClr val="5A6B78"/>
                </a:solidFill>
                <a:latin typeface="Poppins"/>
              </a:rPr>
              <a:t>Agents classify; bots verify; humans adjudicate.</a:t>
            </a:r>
          </a:p>
        </p:txBody>
      </p:sp>
      <p:pic>
        <p:nvPicPr>
          <p:cNvPr id="5" name="Picture 4" descr="uipath_logo_2400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9388" y="201168"/>
            <a:ext cx="1236371" cy="402336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0102188" y="246888"/>
            <a:ext cx="310896" cy="310896"/>
          </a:xfrm>
          <a:prstGeom prst="ellipse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76803" y="385236"/>
            <a:ext cx="161665" cy="34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40536" y="321503"/>
            <a:ext cx="34198" cy="161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mpez691aq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8684" y="173736"/>
            <a:ext cx="457200" cy="457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57200" y="1389888"/>
            <a:ext cx="11274552" cy="13716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508760"/>
            <a:ext cx="5500116" cy="1783080"/>
          </a:xfrm>
          <a:prstGeom prst="rect">
            <a:avLst/>
          </a:prstGeom>
          <a:solidFill>
            <a:srgbClr val="FA4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73351"/>
            <a:ext cx="486003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Poppins"/>
              </a:rPr>
              <a:t>The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75688"/>
            <a:ext cx="4860036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FFFFFF"/>
                </a:solidFill>
                <a:latin typeface="Poppins"/>
              </a:rPr>
              <a:t>Manual claim review is slow.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633471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Poppins"/>
              </a:rPr>
              <a:t>$3.4M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962655"/>
            <a:ext cx="486003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FFE8DC"/>
                </a:solidFill>
                <a:latin typeface="Poppins"/>
              </a:rPr>
              <a:t>annual cost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1508760"/>
            <a:ext cx="5500116" cy="1783080"/>
          </a:xfrm>
          <a:prstGeom prst="rect">
            <a:avLst/>
          </a:prstGeom>
          <a:solidFill>
            <a:srgbClr val="0BA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1675" y="1673351"/>
            <a:ext cx="486003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Poppins"/>
              </a:rPr>
              <a:t>The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1675" y="2075688"/>
            <a:ext cx="4860036" cy="6675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FFFFFF"/>
                </a:solidFill>
                <a:latin typeface="Poppins"/>
              </a:rPr>
              <a:t>Agents classify, bots verify, humans handle exceptions.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1675" y="2852927"/>
            <a:ext cx="612647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51675" y="2852927"/>
            <a:ext cx="6126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E5C68"/>
                </a:solidFill>
                <a:latin typeface="Poppins"/>
              </a:rPr>
              <a:t>Agents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7475" y="2852927"/>
            <a:ext cx="136702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37475" y="2852927"/>
            <a:ext cx="13670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E5C68"/>
                </a:solidFill>
                <a:latin typeface="Poppins"/>
              </a:rPr>
              <a:t>Unattended Robots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77655" y="2852927"/>
            <a:ext cx="10927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77655" y="2852927"/>
            <a:ext cx="109270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E5C68"/>
                </a:solidFill>
                <a:latin typeface="Poppins"/>
              </a:rPr>
              <a:t>Action Center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383279"/>
            <a:ext cx="11274552" cy="128016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4930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A2330"/>
                </a:solidFill>
                <a:latin typeface="Poppins"/>
              </a:rPr>
              <a:t>What the automation does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794759"/>
            <a:ext cx="3380232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3794759"/>
            <a:ext cx="3380232" cy="45720"/>
          </a:xfrm>
          <a:prstGeom prst="rect">
            <a:avLst/>
          </a:prstGeom>
          <a:solidFill>
            <a:srgbClr val="FA4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904487"/>
            <a:ext cx="316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 spc="150">
                <a:solidFill>
                  <a:srgbClr val="FA4616"/>
                </a:solidFill>
                <a:latin typeface="Poppins"/>
              </a:rPr>
              <a:t>01  BOT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4105655"/>
            <a:ext cx="316077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1A2330"/>
                </a:solidFill>
                <a:latin typeface="Poppins"/>
              </a:rPr>
              <a:t>Ingest</a:t>
            </a:r>
          </a:p>
        </p:txBody>
      </p:sp>
      <p:sp>
        <p:nvSpPr>
          <p:cNvPr id="31" name="Chevron 30"/>
          <p:cNvSpPr/>
          <p:nvPr/>
        </p:nvSpPr>
        <p:spPr>
          <a:xfrm>
            <a:off x="4142232" y="4105655"/>
            <a:ext cx="201168" cy="201168"/>
          </a:xfrm>
          <a:prstGeom prst="chevron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73880" y="3794759"/>
            <a:ext cx="3380232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73880" y="3794759"/>
            <a:ext cx="3380232" cy="45720"/>
          </a:xfrm>
          <a:prstGeom prst="rect">
            <a:avLst/>
          </a:prstGeom>
          <a:solidFill>
            <a:srgbClr val="0BA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01896" y="3904487"/>
            <a:ext cx="316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 spc="150">
                <a:solidFill>
                  <a:srgbClr val="0BA2B3"/>
                </a:solidFill>
                <a:latin typeface="Poppins"/>
              </a:rPr>
              <a:t>02 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01896" y="4105655"/>
            <a:ext cx="316077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1A2330"/>
                </a:solidFill>
                <a:latin typeface="Poppins"/>
              </a:rPr>
              <a:t>Classify</a:t>
            </a:r>
          </a:p>
        </p:txBody>
      </p:sp>
      <p:sp>
        <p:nvSpPr>
          <p:cNvPr id="36" name="Chevron 35"/>
          <p:cNvSpPr/>
          <p:nvPr/>
        </p:nvSpPr>
        <p:spPr>
          <a:xfrm>
            <a:off x="7784592" y="4105655"/>
            <a:ext cx="201168" cy="201168"/>
          </a:xfrm>
          <a:prstGeom prst="chevron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16240" y="3794759"/>
            <a:ext cx="3380232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6240" y="3794759"/>
            <a:ext cx="3380232" cy="45720"/>
          </a:xfrm>
          <a:prstGeom prst="rect">
            <a:avLst/>
          </a:prstGeom>
          <a:solidFill>
            <a:srgbClr val="DA9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44256" y="3904487"/>
            <a:ext cx="316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 spc="150">
                <a:solidFill>
                  <a:srgbClr val="DA9100"/>
                </a:solidFill>
                <a:latin typeface="Poppins"/>
              </a:rPr>
              <a:t>03  HUMAN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44256" y="4105655"/>
            <a:ext cx="316077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1A2330"/>
                </a:solidFill>
                <a:latin typeface="Poppins"/>
              </a:rPr>
              <a:t>Adjudicate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75487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A2330"/>
                </a:solidFill>
                <a:latin typeface="Poppins"/>
              </a:rPr>
              <a:t>Measured outcomes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120640"/>
            <a:ext cx="5545836" cy="713232"/>
          </a:xfrm>
          <a:prstGeom prst="rect">
            <a:avLst/>
          </a:prstGeom>
          <a:solidFill>
            <a:srgbClr val="FA4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" y="5212079"/>
            <a:ext cx="50886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Poppins"/>
              </a:rPr>
              <a:t>$3.4M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" y="5614416"/>
            <a:ext cx="50886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FFE8DC"/>
                </a:solidFill>
                <a:latin typeface="Poppins"/>
              </a:rPr>
              <a:t>savings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85916" y="5120640"/>
            <a:ext cx="5545836" cy="713232"/>
          </a:xfrm>
          <a:prstGeom prst="rect">
            <a:avLst/>
          </a:prstGeom>
          <a:solidFill>
            <a:srgbClr val="FA4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78524" y="5212079"/>
            <a:ext cx="50886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Poppins"/>
              </a:rPr>
              <a:t>2 days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8524" y="5614416"/>
            <a:ext cx="50886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FFE8DC"/>
                </a:solidFill>
                <a:latin typeface="Poppins"/>
              </a:rPr>
              <a:t>new processing time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