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A6B78"/>
                </a:solidFill>
                <a:latin typeface="Poppins"/>
              </a:rPr>
              <a:t>Healthcare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5A6B78"/>
                </a:solidFill>
                <a:latin typeface="Poppins"/>
              </a:rPr>
              <a:t>Claims Processing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1A2330"/>
                </a:solidFill>
                <a:latin typeface="Poppins"/>
              </a:rPr>
              <a:t>Medical Claim Adjudication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1A2330"/>
                </a:solidFill>
                <a:latin typeface="Poppins"/>
              </a:rPr>
              <a:t>Medical claim adjudication</a:t>
            </a:r>
          </a:p>
          <a:p>
            <a:r>
              <a:rPr sz="1300">
                <a:solidFill>
                  <a:srgbClr val="5A6B78"/>
                </a:solidFill>
                <a:latin typeface="Poppins"/>
              </a:rPr>
              <a:t>Agents classify; bots verify; humans adjudicate.</a:t>
            </a:r>
          </a:p>
        </p:txBody>
      </p:sp>
      <p:pic>
        <p:nvPicPr>
          <p:cNvPr id="5" name="Picture 4" descr="uipath_logo_2400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9388" y="201168"/>
            <a:ext cx="1236371" cy="402336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0157052" y="301752"/>
            <a:ext cx="201168" cy="201168"/>
          </a:xfrm>
          <a:prstGeom prst="ellipse">
            <a:avLst/>
          </a:prstGeom>
          <a:noFill/>
          <a:ln w="25400">
            <a:solidFill>
              <a:srgbClr val="1A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209355" y="389260"/>
            <a:ext cx="96560" cy="26151"/>
          </a:xfrm>
          <a:prstGeom prst="rect">
            <a:avLst/>
          </a:prstGeom>
          <a:solidFill>
            <a:srgbClr val="1A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244560" y="354055"/>
            <a:ext cx="26151" cy="96560"/>
          </a:xfrm>
          <a:prstGeom prst="rect">
            <a:avLst/>
          </a:prstGeom>
          <a:solidFill>
            <a:srgbClr val="1A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mptt8x6s9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8684" y="173736"/>
            <a:ext cx="457200" cy="4572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57200" y="1389888"/>
            <a:ext cx="11274552" cy="13716"/>
          </a:xfrm>
          <a:prstGeom prst="rect">
            <a:avLst/>
          </a:prstGeom>
          <a:solidFill>
            <a:srgbClr val="D8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5500116" cy="178308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75688"/>
            <a:ext cx="486003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Poppins"/>
              </a:rPr>
              <a:t>Manual claim review is slow.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33471"/>
            <a:ext cx="486003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$3.4M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962655"/>
            <a:ext cx="486003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annual cost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1636" y="1508760"/>
            <a:ext cx="5500116" cy="178308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1675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1675" y="2075688"/>
            <a:ext cx="4860036" cy="667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Poppins"/>
              </a:rPr>
              <a:t>Agents classify, bots verify, humans handle exceptions.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1675" y="2852927"/>
            <a:ext cx="61264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1675" y="2852927"/>
            <a:ext cx="61264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Agents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37475" y="2852927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37475" y="2852927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Unattended Robots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77655" y="2852927"/>
            <a:ext cx="10927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77655" y="2852927"/>
            <a:ext cx="10927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Action Center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383279"/>
            <a:ext cx="11274552" cy="128016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493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What the automation does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794759"/>
            <a:ext cx="338023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3794759"/>
            <a:ext cx="3380232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3904487"/>
            <a:ext cx="31607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01  BOT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4105655"/>
            <a:ext cx="316077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Ingest</a:t>
            </a:r>
          </a:p>
        </p:txBody>
      </p:sp>
      <p:sp>
        <p:nvSpPr>
          <p:cNvPr id="31" name="Chevron 30"/>
          <p:cNvSpPr/>
          <p:nvPr/>
        </p:nvSpPr>
        <p:spPr>
          <a:xfrm>
            <a:off x="4142232" y="4105655"/>
            <a:ext cx="201168" cy="201168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73880" y="3794759"/>
            <a:ext cx="338023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73880" y="3794759"/>
            <a:ext cx="3380232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01896" y="3904487"/>
            <a:ext cx="31607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02 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1896" y="4105655"/>
            <a:ext cx="316077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Classify</a:t>
            </a:r>
          </a:p>
        </p:txBody>
      </p:sp>
      <p:sp>
        <p:nvSpPr>
          <p:cNvPr id="36" name="Chevron 35"/>
          <p:cNvSpPr/>
          <p:nvPr/>
        </p:nvSpPr>
        <p:spPr>
          <a:xfrm>
            <a:off x="7784592" y="4105655"/>
            <a:ext cx="201168" cy="201168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16240" y="3794759"/>
            <a:ext cx="338023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16240" y="3794759"/>
            <a:ext cx="3380232" cy="45720"/>
          </a:xfrm>
          <a:prstGeom prst="rect">
            <a:avLst/>
          </a:prstGeom>
          <a:solidFill>
            <a:srgbClr val="DA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44256" y="3904487"/>
            <a:ext cx="31607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DA9100"/>
                </a:solidFill>
                <a:latin typeface="Poppins"/>
              </a:rPr>
              <a:t>03  HUMAN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44256" y="4105655"/>
            <a:ext cx="316077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Adjudicate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75487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Measured outcomes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120640"/>
            <a:ext cx="5545836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" y="5212079"/>
            <a:ext cx="508863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$3.4M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" y="5614416"/>
            <a:ext cx="50886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savings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85916" y="5120640"/>
            <a:ext cx="5545836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78524" y="5212079"/>
            <a:ext cx="508863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2 days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8524" y="5614416"/>
            <a:ext cx="50886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new processing 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