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A6B78"/>
                </a:solidFill>
                <a:latin typeface="Poppins"/>
              </a:rPr>
              <a:t>Healthcare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5A6B78"/>
                </a:solidFill>
                <a:latin typeface="Poppins"/>
              </a:rPr>
              <a:t>Claims Processing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1A2330"/>
                </a:solidFill>
                <a:latin typeface="Poppins"/>
              </a:rPr>
              <a:t>Medical Claim Adjudication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1A2330"/>
                </a:solidFill>
                <a:latin typeface="Poppins"/>
              </a:rPr>
              <a:t>Medical claim adjudication</a:t>
            </a:r>
          </a:p>
          <a:p>
            <a:r>
              <a:rPr sz="1300">
                <a:solidFill>
                  <a:srgbClr val="5A6B78"/>
                </a:solidFill>
                <a:latin typeface="Poppins"/>
              </a:rPr>
              <a:t>Agents classify claims; bots verify eligibility and contracts; humans review edge cases.</a:t>
            </a:r>
          </a:p>
        </p:txBody>
      </p:sp>
      <p:pic>
        <p:nvPicPr>
          <p:cNvPr id="5" name="Picture 4" descr="uipath_logo_2400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9388" y="201168"/>
            <a:ext cx="1236371" cy="402336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0102188" y="246888"/>
            <a:ext cx="310896" cy="310896"/>
          </a:xfrm>
          <a:prstGeom prst="ellipse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76803" y="385236"/>
            <a:ext cx="161665" cy="341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240536" y="321503"/>
            <a:ext cx="34198" cy="1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13468" y="228600"/>
            <a:ext cx="104241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A2330"/>
                </a:solidFill>
                <a:latin typeface="Poppins"/>
              </a:rPr>
              <a:t>Anthem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11274552" cy="13716"/>
          </a:xfrm>
          <a:prstGeom prst="rect">
            <a:avLst/>
          </a:prstGeom>
          <a:solidFill>
            <a:srgbClr val="D8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5500116" cy="178308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75688"/>
            <a:ext cx="486003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Poppins"/>
              </a:rPr>
              <a:t>High-volume inbound claims require manual review across clinical codes, member eligibility, and provider contracts, creating a bottleneck that delays reimbursements.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$3.4M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annual processing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2972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12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2972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average claim processing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08704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08704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inbound claims backlog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508760"/>
            <a:ext cx="5500116" cy="178308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1675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1675" y="2075688"/>
            <a:ext cx="4860036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Poppins"/>
              </a:rPr>
              <a:t>Document Understanding extracts clinical codes and member IDs; agents cross-reference eligibility and contract terms across 5 systems; humans handle exception claims.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51675" y="2633471"/>
            <a:ext cx="61264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1675" y="2633471"/>
            <a:ext cx="61264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Agents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37475" y="2633471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37475" y="2633471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Doc Understanding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77655" y="2633471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77655" y="2633471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Unattended Robots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17835" y="2633471"/>
            <a:ext cx="10927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17835" y="2633471"/>
            <a:ext cx="10927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Action Center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51675" y="2944367"/>
            <a:ext cx="102412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1675" y="2944367"/>
            <a:ext cx="102412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Data Service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383279"/>
            <a:ext cx="11274552" cy="128016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493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What the automation does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01  BOT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Ingest claims via EDI &amp; PDF</a:t>
            </a:r>
          </a:p>
        </p:txBody>
      </p:sp>
      <p:sp>
        <p:nvSpPr>
          <p:cNvPr id="39" name="Chevron 38"/>
          <p:cNvSpPr/>
          <p:nvPr/>
        </p:nvSpPr>
        <p:spPr>
          <a:xfrm>
            <a:off x="2104861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272501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272501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00517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02  BOT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00517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Extract codes &amp; member IDs</a:t>
            </a:r>
          </a:p>
        </p:txBody>
      </p:sp>
      <p:sp>
        <p:nvSpPr>
          <p:cNvPr id="44" name="Chevron 43"/>
          <p:cNvSpPr/>
          <p:nvPr/>
        </p:nvSpPr>
        <p:spPr>
          <a:xfrm>
            <a:off x="3645843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813483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813483" y="3794759"/>
            <a:ext cx="1352005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41499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03  AGENT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41499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Cross-reference eligibility</a:t>
            </a:r>
          </a:p>
        </p:txBody>
      </p:sp>
      <p:sp>
        <p:nvSpPr>
          <p:cNvPr id="49" name="Chevron 48"/>
          <p:cNvSpPr/>
          <p:nvPr/>
        </p:nvSpPr>
        <p:spPr>
          <a:xfrm>
            <a:off x="5186825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354465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354465" y="3794759"/>
            <a:ext cx="1352005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2481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04  AGENT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2481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Validate contract &amp; policy</a:t>
            </a:r>
          </a:p>
        </p:txBody>
      </p:sp>
      <p:sp>
        <p:nvSpPr>
          <p:cNvPr id="54" name="Chevron 53"/>
          <p:cNvSpPr/>
          <p:nvPr/>
        </p:nvSpPr>
        <p:spPr>
          <a:xfrm>
            <a:off x="6727806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95446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895446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23462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05  BOT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23462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Auto-adjudicate clean claims</a:t>
            </a:r>
          </a:p>
        </p:txBody>
      </p:sp>
      <p:sp>
        <p:nvSpPr>
          <p:cNvPr id="59" name="Chevron 58"/>
          <p:cNvSpPr/>
          <p:nvPr/>
        </p:nvSpPr>
        <p:spPr>
          <a:xfrm>
            <a:off x="8268788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436428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436428" y="3794759"/>
            <a:ext cx="1352005" cy="45720"/>
          </a:xfrm>
          <a:prstGeom prst="rect">
            <a:avLst/>
          </a:prstGeom>
          <a:solidFill>
            <a:srgbClr val="DA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64444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DA9100"/>
                </a:solidFill>
                <a:latin typeface="Poppins"/>
              </a:rPr>
              <a:t>06  HUMAN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64444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Review exception claims</a:t>
            </a:r>
          </a:p>
        </p:txBody>
      </p:sp>
      <p:sp>
        <p:nvSpPr>
          <p:cNvPr id="64" name="Chevron 63"/>
          <p:cNvSpPr/>
          <p:nvPr/>
        </p:nvSpPr>
        <p:spPr>
          <a:xfrm>
            <a:off x="9809770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977410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977410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105426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07  BOT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05426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Sync outcome &amp; notify provider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475487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Measured outcomes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94360" y="5230368"/>
            <a:ext cx="336194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Poppins"/>
              </a:rPr>
              <a:t>$3.4M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360" y="5632704"/>
            <a:ext cx="336194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E8DC"/>
                </a:solidFill>
                <a:latin typeface="Poppins"/>
              </a:rPr>
              <a:t>annual savings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76344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413504" y="5230368"/>
            <a:ext cx="336194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Poppins"/>
              </a:rPr>
              <a:t>10 days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413504" y="5632704"/>
            <a:ext cx="336194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E8DC"/>
                </a:solidFill>
                <a:latin typeface="Poppins"/>
              </a:rPr>
              <a:t>cycle time reduction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95488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32648" y="5230368"/>
            <a:ext cx="336194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Poppins"/>
              </a:rPr>
              <a:t>2 days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32648" y="5632704"/>
            <a:ext cx="336194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E8DC"/>
                </a:solidFill>
                <a:latin typeface="Poppins"/>
              </a:rPr>
              <a:t>new avg processing time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0080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A2B3"/>
                </a:solidFill>
                <a:latin typeface="Poppins"/>
              </a:rPr>
              <a:t>Attributable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directly moved, not yet quantified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1A2330"/>
                </a:solidFill>
                <a:latin typeface="Poppins"/>
              </a:rPr>
              <a:t>↓ Days in claims queue   ·   ↓ Manual review touches   ·   ↑ First-pass approval rate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231636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14516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DA9100"/>
                </a:solidFill>
                <a:latin typeface="Poppins"/>
              </a:rPr>
              <a:t>Downstream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second-order effects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14516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2330"/>
                </a:solidFill>
                <a:latin typeface="Poppins"/>
              </a:rPr>
              <a:t>↑ Staff retention   ·   ↓ Compliance risk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