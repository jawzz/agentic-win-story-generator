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A6B78"/>
                </a:solidFill>
                <a:latin typeface="Poppins"/>
              </a:rPr>
              <a:t>Healthcare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5A6B78"/>
                </a:solidFill>
                <a:latin typeface="Poppins"/>
              </a:rPr>
              <a:t>Claims Processing</a:t>
            </a:r>
            <a:r>
              <a:rPr sz="1000" b="0" i="0">
                <a:solidFill>
                  <a:srgbClr val="8A98A5"/>
                </a:solidFill>
                <a:latin typeface="Poppins"/>
              </a:rPr>
              <a:t>   /   </a:t>
            </a:r>
            <a:r>
              <a:rPr sz="1000" b="1" i="0">
                <a:solidFill>
                  <a:srgbClr val="1A2330"/>
                </a:solidFill>
                <a:latin typeface="Poppins"/>
              </a:rPr>
              <a:t>Medical Claim Adjudication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1A2330"/>
                </a:solidFill>
                <a:latin typeface="Poppins"/>
              </a:rPr>
              <a:t>Medical claim adjudication</a:t>
            </a:r>
          </a:p>
          <a:p>
            <a:r>
              <a:rPr sz="1300">
                <a:solidFill>
                  <a:srgbClr val="5A6B78"/>
                </a:solidFill>
                <a:latin typeface="Poppins"/>
              </a:rPr>
              <a:t>Agents classify claims; bots verify eligibility and contracts; humans review edge cases.</a:t>
            </a:r>
          </a:p>
        </p:txBody>
      </p:sp>
      <p:pic>
        <p:nvPicPr>
          <p:cNvPr id="5" name="Picture 4" descr="uipath_logo_2400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785" y="274320"/>
            <a:ext cx="1123974" cy="3657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0269449" y="356616"/>
            <a:ext cx="201168" cy="201168"/>
          </a:xfrm>
          <a:prstGeom prst="ellipse">
            <a:avLst/>
          </a:prstGeom>
          <a:noFill/>
          <a:ln w="19050">
            <a:solidFill>
              <a:srgbClr val="1A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25776" y="440100"/>
            <a:ext cx="88513" cy="34198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52934" y="412943"/>
            <a:ext cx="34198" cy="88513"/>
          </a:xfrm>
          <a:prstGeom prst="rect">
            <a:avLst/>
          </a:prstGeom>
          <a:solidFill>
            <a:srgbClr val="1A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5865" y="320040"/>
            <a:ext cx="104241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500" b="1" i="0">
                <a:solidFill>
                  <a:srgbClr val="1A2330"/>
                </a:solidFill>
                <a:latin typeface="Poppins"/>
              </a:rPr>
              <a:t>Anthem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89888"/>
            <a:ext cx="11274552" cy="13716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500116" cy="178308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8600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Poppins"/>
              </a:rPr>
              <a:t>High-volume inbound claims require manual review across clinical codes, member eligibility, and provider contracts.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annual processing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2972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12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2972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average claim processing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8704" y="2633471"/>
            <a:ext cx="15285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Poppin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8704" y="2962655"/>
            <a:ext cx="15285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FFE8DC"/>
                </a:solidFill>
                <a:latin typeface="Poppins"/>
              </a:rPr>
              <a:t>inbound claims backlog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508760"/>
            <a:ext cx="5500116" cy="1783080"/>
          </a:xfrm>
          <a:prstGeom prst="rect">
            <a:avLst/>
          </a:prstGeom>
          <a:solidFill>
            <a:srgbClr val="1E6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1675" y="1673351"/>
            <a:ext cx="48600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Poppin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1675" y="2075688"/>
            <a:ext cx="4860036" cy="6675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FFFF"/>
                </a:solidFill>
                <a:latin typeface="Poppins"/>
              </a:rPr>
              <a:t>UiPath Agents classify and triage claims by clinical codes; Unattended Robots verify eligibility and contracts automatically.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1675" y="2852927"/>
            <a:ext cx="6126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1675" y="2852927"/>
            <a:ext cx="61264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747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747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Unattended Robots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655" y="2852927"/>
            <a:ext cx="10927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7655" y="2852927"/>
            <a:ext cx="10927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Action Center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43515" y="2852927"/>
            <a:ext cx="13670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43515" y="2852927"/>
            <a:ext cx="13670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5C68"/>
                </a:solidFill>
                <a:latin typeface="Poppins"/>
              </a:rPr>
              <a:t>Doc Understanding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383279"/>
            <a:ext cx="11274552" cy="128016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493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What the automation does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01  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Ingest claims via EDI &amp; PDF</a:t>
            </a:r>
          </a:p>
        </p:txBody>
      </p:sp>
      <p:sp>
        <p:nvSpPr>
          <p:cNvPr id="37" name="Chevron 36"/>
          <p:cNvSpPr/>
          <p:nvPr/>
        </p:nvSpPr>
        <p:spPr>
          <a:xfrm>
            <a:off x="2104861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72501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72501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00517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02 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00517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Classify by clinical codes</a:t>
            </a:r>
          </a:p>
        </p:txBody>
      </p:sp>
      <p:sp>
        <p:nvSpPr>
          <p:cNvPr id="42" name="Chevron 41"/>
          <p:cNvSpPr/>
          <p:nvPr/>
        </p:nvSpPr>
        <p:spPr>
          <a:xfrm>
            <a:off x="3645843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13483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13483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41499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03  BOT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41499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Verify member eligibility</a:t>
            </a:r>
          </a:p>
        </p:txBody>
      </p:sp>
      <p:sp>
        <p:nvSpPr>
          <p:cNvPr id="47" name="Chevron 46"/>
          <p:cNvSpPr/>
          <p:nvPr/>
        </p:nvSpPr>
        <p:spPr>
          <a:xfrm>
            <a:off x="5186825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54465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54465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2481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04  BOT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2481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Validate provider contract</a:t>
            </a:r>
          </a:p>
        </p:txBody>
      </p:sp>
      <p:sp>
        <p:nvSpPr>
          <p:cNvPr id="52" name="Chevron 51"/>
          <p:cNvSpPr/>
          <p:nvPr/>
        </p:nvSpPr>
        <p:spPr>
          <a:xfrm>
            <a:off x="6727806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95446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95446" y="3794759"/>
            <a:ext cx="1352005" cy="45720"/>
          </a:xfrm>
          <a:prstGeom prst="rect">
            <a:avLst/>
          </a:prstGeom>
          <a:solidFill>
            <a:srgbClr val="0B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23462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0BA2B3"/>
                </a:solidFill>
                <a:latin typeface="Poppins"/>
              </a:rPr>
              <a:t>05  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23462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Route routine for approval</a:t>
            </a:r>
          </a:p>
        </p:txBody>
      </p:sp>
      <p:sp>
        <p:nvSpPr>
          <p:cNvPr id="57" name="Chevron 56"/>
          <p:cNvSpPr/>
          <p:nvPr/>
        </p:nvSpPr>
        <p:spPr>
          <a:xfrm>
            <a:off x="8268788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36428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436428" y="3794759"/>
            <a:ext cx="1352005" cy="45720"/>
          </a:xfrm>
          <a:prstGeom prst="rect">
            <a:avLst/>
          </a:prstGeom>
          <a:solidFill>
            <a:srgbClr val="DA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64444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DA9100"/>
                </a:solidFill>
                <a:latin typeface="Poppins"/>
              </a:rPr>
              <a:t>06  HUMAN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64444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Adjudicate exceptions</a:t>
            </a:r>
          </a:p>
        </p:txBody>
      </p:sp>
      <p:sp>
        <p:nvSpPr>
          <p:cNvPr id="62" name="Chevron 61"/>
          <p:cNvSpPr/>
          <p:nvPr/>
        </p:nvSpPr>
        <p:spPr>
          <a:xfrm>
            <a:off x="9809770" y="4133087"/>
            <a:ext cx="146304" cy="146304"/>
          </a:xfrm>
          <a:prstGeom prst="chevron">
            <a:avLst/>
          </a:prstGeom>
          <a:solidFill>
            <a:srgbClr val="5A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77410" y="3794759"/>
            <a:ext cx="1352005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977410" y="3794759"/>
            <a:ext cx="1352005" cy="45720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05426" y="3904487"/>
            <a:ext cx="113254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 spc="150">
                <a:solidFill>
                  <a:srgbClr val="FA4616"/>
                </a:solidFill>
                <a:latin typeface="Poppins"/>
              </a:rPr>
              <a:t>07  BOT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05426" y="4105655"/>
            <a:ext cx="113254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1A2330"/>
                </a:solidFill>
                <a:latin typeface="Poppins"/>
              </a:rPr>
              <a:t>Issue reimbursement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47548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A2330"/>
                </a:solidFill>
                <a:latin typeface="Poppins"/>
              </a:rPr>
              <a:t>Measured outcomes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49808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$3.4M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8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annual savings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76344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68952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10 days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68952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cycle time reduction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5488" y="5120640"/>
            <a:ext cx="3636264" cy="713232"/>
          </a:xfrm>
          <a:prstGeom prst="rect">
            <a:avLst/>
          </a:prstGeom>
          <a:solidFill>
            <a:srgbClr val="FA4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88096" y="5212079"/>
            <a:ext cx="31790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Poppins"/>
              </a:rPr>
              <a:t>2 days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88096" y="5614416"/>
            <a:ext cx="3179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FFE8DC"/>
                </a:solidFill>
                <a:latin typeface="Poppins"/>
              </a:rPr>
              <a:t>new avg processing time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A2B3"/>
                </a:solidFill>
                <a:latin typeface="Poppins"/>
              </a:rPr>
              <a:t>Attributable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directly moved, not yet quantified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1A2330"/>
                </a:solidFill>
                <a:latin typeface="Poppins"/>
              </a:rPr>
              <a:t>↓ Days in claims queue   ·   ↓ Manual review touches   ·   ↑ First-pass approval rate   ·   ↑ Provider satisfaction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1636" y="5998464"/>
            <a:ext cx="55001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14516" y="6089903"/>
            <a:ext cx="51343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A9100"/>
                </a:solidFill>
                <a:latin typeface="Poppins"/>
              </a:rPr>
              <a:t>Downstream impact</a:t>
            </a:r>
            <a:r>
              <a:rPr sz="900" b="0" i="1">
                <a:solidFill>
                  <a:srgbClr val="8A98A5"/>
                </a:solidFill>
                <a:latin typeface="Poppins"/>
              </a:rPr>
              <a:t>   second-order effects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14516" y="6327648"/>
            <a:ext cx="513435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1A2330"/>
                </a:solidFill>
                <a:latin typeface="Poppins"/>
              </a:rPr>
              <a:t>↑ Staff retention   ·   ↑ Member and provider NPS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