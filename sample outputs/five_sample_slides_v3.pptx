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047324" y="246888"/>
            <a:ext cx="310896" cy="310896"/>
          </a:xfrm>
          <a:prstGeom prst="ellipse">
            <a:avLst/>
          </a:prstGeom>
          <a:noFill/>
          <a:ln w="34544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28157" y="382127"/>
            <a:ext cx="149230" cy="40416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82563" y="327720"/>
            <a:ext cx="40416" cy="14923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3740" y="228600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contracts, creating a bottleneck that delays reimbursements and frustrates providers.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Document Understanding extracts clinical codes and member IDs; agents cross-reference eligibility and contract terms across 5 systems; humans handle exception claims with a pre-populated summary.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17835" y="2633471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7835" y="2633471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1675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1675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9" name="Chevron 38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Extract codes &amp; member IDs</a:t>
            </a:r>
          </a:p>
        </p:txBody>
      </p:sp>
      <p:sp>
        <p:nvSpPr>
          <p:cNvPr id="44" name="Chevron 43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Cross-reference eligibility</a:t>
            </a:r>
          </a:p>
        </p:txBody>
      </p:sp>
      <p:sp>
        <p:nvSpPr>
          <p:cNvPr id="49" name="Chevron 48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contract &amp; policy</a:t>
            </a:r>
          </a:p>
        </p:txBody>
      </p:sp>
      <p:sp>
        <p:nvSpPr>
          <p:cNvPr id="54" name="Chevron 53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Auto-adjudicate clean claims</a:t>
            </a:r>
          </a:p>
        </p:txBody>
      </p:sp>
      <p:sp>
        <p:nvSpPr>
          <p:cNvPr id="59" name="Chevron 58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Review exception claims</a:t>
            </a:r>
          </a:p>
        </p:txBody>
      </p:sp>
      <p:sp>
        <p:nvSpPr>
          <p:cNvPr id="64" name="Chevron 63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Sync outcome &amp; notify provider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   ·   ↓ Compliance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Banking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Compliance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KYC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KYC refresh triage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tier risk; bots pull records; analysts review complex cases only.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047324" y="246888"/>
            <a:ext cx="310896" cy="310896"/>
          </a:xfrm>
          <a:prstGeom prst="ellipse">
            <a:avLst/>
          </a:prstGeom>
          <a:noFill/>
          <a:ln w="34544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28157" y="382127"/>
            <a:ext cx="149230" cy="40416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82563" y="327720"/>
            <a:ext cx="40416" cy="14923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5724" y="228600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Regions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Poppins"/>
              </a:rPr>
              <a:t>Periodic KYC refresh drowns compliance analysts in low-risk cases while true high-risk work sits waiting. Manual rework triples handling time and lets backlogs grow past SLA.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Agents tier clients by risk; bots pull records from core banking and sanctions lists; analysts review only complex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37475" y="2633471"/>
            <a:ext cx="6812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7475" y="2633471"/>
            <a:ext cx="6812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Maestro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203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203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1675" y="294436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1675" y="294436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94759"/>
            <a:ext cx="15895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Score risk tier from activity</a:t>
            </a:r>
          </a:p>
        </p:txBody>
      </p:sp>
      <p:sp>
        <p:nvSpPr>
          <p:cNvPr id="33" name="Chevron 32"/>
          <p:cNvSpPr/>
          <p:nvPr/>
        </p:nvSpPr>
        <p:spPr>
          <a:xfrm>
            <a:off x="2345436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34412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34412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62428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2428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KYC from core banking</a:t>
            </a:r>
          </a:p>
        </p:txBody>
      </p:sp>
      <p:sp>
        <p:nvSpPr>
          <p:cNvPr id="38" name="Chevron 37"/>
          <p:cNvSpPr/>
          <p:nvPr/>
        </p:nvSpPr>
        <p:spPr>
          <a:xfrm>
            <a:off x="4148327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37304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37304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5320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5320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Query sanctions &amp; watchlists</a:t>
            </a:r>
          </a:p>
        </p:txBody>
      </p:sp>
      <p:sp>
        <p:nvSpPr>
          <p:cNvPr id="43" name="Chevron 42"/>
          <p:cNvSpPr/>
          <p:nvPr/>
        </p:nvSpPr>
        <p:spPr>
          <a:xfrm>
            <a:off x="5951220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40196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0196" y="3794759"/>
            <a:ext cx="158953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8212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04 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8212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Summarize findings, flag anomalies</a:t>
            </a:r>
          </a:p>
        </p:txBody>
      </p:sp>
      <p:sp>
        <p:nvSpPr>
          <p:cNvPr id="48" name="Chevron 47"/>
          <p:cNvSpPr/>
          <p:nvPr/>
        </p:nvSpPr>
        <p:spPr>
          <a:xfrm>
            <a:off x="7754112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43087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43087" y="3794759"/>
            <a:ext cx="158953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71104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05  HUMAN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1104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Analyst reviews complex cases</a:t>
            </a:r>
          </a:p>
        </p:txBody>
      </p:sp>
      <p:sp>
        <p:nvSpPr>
          <p:cNvPr id="53" name="Chevron 52"/>
          <p:cNvSpPr/>
          <p:nvPr/>
        </p:nvSpPr>
        <p:spPr>
          <a:xfrm>
            <a:off x="9557004" y="4123944"/>
            <a:ext cx="164592" cy="164592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45979" y="3794759"/>
            <a:ext cx="15895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45979" y="3794759"/>
            <a:ext cx="158953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73995" y="3904487"/>
            <a:ext cx="13700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06  BOT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3995" y="4105655"/>
            <a:ext cx="137007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Update compliance systems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9808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68%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8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faster case resolution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21558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4166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$2.1M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4166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annualized labor savings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85916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78524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3x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8524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throughput per analyst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0274" y="5120640"/>
            <a:ext cx="2681478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42882" y="5212079"/>
            <a:ext cx="222427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92%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42882" y="5614416"/>
            <a:ext cx="222427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low-risk auto-clear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Handling time per case   ·   ↓ Backlog age   ·   ↑ Cases cleared per analyst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Audit readiness   ·   ↓ Regulatory exposure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Insurance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FNOL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FNOL triage in minutes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loss; bots enrich; adjusters focus on the complex.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047324" y="246888"/>
            <a:ext cx="310896" cy="310896"/>
          </a:xfrm>
          <a:prstGeom prst="ellipse">
            <a:avLst/>
          </a:prstGeom>
          <a:noFill/>
          <a:ln w="34544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28157" y="382127"/>
            <a:ext cx="149230" cy="40416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82563" y="327720"/>
            <a:ext cx="40416" cy="14923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7708" y="228600"/>
            <a:ext cx="12984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Allstate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First notice of loss arrives in dozens of formats — calls, emails, forms. Triage and routing eat adjuster time before real work begins.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236143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48%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236143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of adjuster time on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5837" y="2633471"/>
            <a:ext cx="236143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5837" y="2962655"/>
            <a:ext cx="2361437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industry-wide FNOL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classify loss type and severity; bots enrich with policy and loss history; adjusters approve and route.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3515" y="285292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3515" y="285292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794759"/>
            <a:ext cx="246202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loss from intake</a:t>
            </a:r>
          </a:p>
        </p:txBody>
      </p:sp>
      <p:sp>
        <p:nvSpPr>
          <p:cNvPr id="35" name="Chevron 34"/>
          <p:cNvSpPr/>
          <p:nvPr/>
        </p:nvSpPr>
        <p:spPr>
          <a:xfrm>
            <a:off x="322402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55669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5669" y="3794759"/>
            <a:ext cx="2462022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368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368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policy &amp; coverage</a:t>
            </a:r>
          </a:p>
        </p:txBody>
      </p:sp>
      <p:sp>
        <p:nvSpPr>
          <p:cNvPr id="40" name="Chevron 39"/>
          <p:cNvSpPr/>
          <p:nvPr/>
        </p:nvSpPr>
        <p:spPr>
          <a:xfrm>
            <a:off x="594817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9820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9820" y="3794759"/>
            <a:ext cx="2462022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7835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7835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Assess severity, suggest route</a:t>
            </a:r>
          </a:p>
        </p:txBody>
      </p:sp>
      <p:sp>
        <p:nvSpPr>
          <p:cNvPr id="45" name="Chevron 44"/>
          <p:cNvSpPr/>
          <p:nvPr/>
        </p:nvSpPr>
        <p:spPr>
          <a:xfrm>
            <a:off x="8672321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03969" y="3794759"/>
            <a:ext cx="246202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03969" y="3794759"/>
            <a:ext cx="2462022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31986" y="3904487"/>
            <a:ext cx="224256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04  HUMAN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1986" y="4105655"/>
            <a:ext cx="224256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Adjuster reviews &amp; approves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9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avg triage time (was 3.5 hrs)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$4.8M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straight-through routing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Triage time   ·   ↓ Manual handoffs   ·   ↑ First-time-right routing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Customer NPS   ·   ↑ Adjuster retention   ·   ↓ Leakage on small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Manufacturing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Supply chain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PO exception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PO exception auto-resolve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Nine-step orchestration catches exceptions, diagnoses root cause, and auto-resolves 80%.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047324" y="246888"/>
            <a:ext cx="310896" cy="310896"/>
          </a:xfrm>
          <a:prstGeom prst="ellipse">
            <a:avLst/>
          </a:prstGeom>
          <a:noFill/>
          <a:ln w="34544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28157" y="382127"/>
            <a:ext cx="149230" cy="40416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82563" y="327720"/>
            <a:ext cx="40416" cy="14923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75724" y="228600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Siemens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PO exceptions hold up receiving and delay production. Buyers play detective across ERP, vendor portals, and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21%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of POs with exceptions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6538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6538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cost per exception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5837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3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5837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avg resolution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5136" y="2633471"/>
            <a:ext cx="111213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5136" y="2962655"/>
            <a:ext cx="111213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buyer touch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1675" y="2075688"/>
            <a:ext cx="4860036" cy="448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Agents diagnose root cause; bots cross-check ERP, vendor portals, and shipping; buyers handle only ambiguous cases.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1675" y="2633471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1675" y="2633471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7475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7475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77655" y="2633471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77655" y="2633471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80676" y="2633471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0676" y="2633471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51675" y="294436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1675" y="294436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17536" y="2944367"/>
            <a:ext cx="102412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2944367"/>
            <a:ext cx="10241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Data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Detect PO exception</a:t>
            </a:r>
          </a:p>
        </p:txBody>
      </p:sp>
      <p:sp>
        <p:nvSpPr>
          <p:cNvPr id="43" name="Chevron 42"/>
          <p:cNvSpPr/>
          <p:nvPr/>
        </p:nvSpPr>
        <p:spPr>
          <a:xfrm>
            <a:off x="1779016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253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5320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33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33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Pull vendor ack &amp; ASN</a:t>
            </a:r>
          </a:p>
        </p:txBody>
      </p:sp>
      <p:sp>
        <p:nvSpPr>
          <p:cNvPr id="48" name="Chevron 47"/>
          <p:cNvSpPr/>
          <p:nvPr/>
        </p:nvSpPr>
        <p:spPr>
          <a:xfrm>
            <a:off x="29728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19120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19120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7136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7136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Diagnose root cause</a:t>
            </a:r>
          </a:p>
        </p:txBody>
      </p:sp>
      <p:sp>
        <p:nvSpPr>
          <p:cNvPr id="53" name="Chevron 52"/>
          <p:cNvSpPr/>
          <p:nvPr/>
        </p:nvSpPr>
        <p:spPr>
          <a:xfrm>
            <a:off x="41666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129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129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409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09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Check shipping &amp; receiving</a:t>
            </a:r>
          </a:p>
        </p:txBody>
      </p:sp>
      <p:sp>
        <p:nvSpPr>
          <p:cNvPr id="58" name="Chevron 57"/>
          <p:cNvSpPr/>
          <p:nvPr/>
        </p:nvSpPr>
        <p:spPr>
          <a:xfrm>
            <a:off x="53604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067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06719" y="3794759"/>
            <a:ext cx="1029207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47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47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Propose resolution</a:t>
            </a:r>
          </a:p>
        </p:txBody>
      </p:sp>
      <p:sp>
        <p:nvSpPr>
          <p:cNvPr id="63" name="Chevron 62"/>
          <p:cNvSpPr/>
          <p:nvPr/>
        </p:nvSpPr>
        <p:spPr>
          <a:xfrm>
            <a:off x="65542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005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005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285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85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Apply ERP correction</a:t>
            </a:r>
          </a:p>
        </p:txBody>
      </p:sp>
      <p:sp>
        <p:nvSpPr>
          <p:cNvPr id="68" name="Chevron 67"/>
          <p:cNvSpPr/>
          <p:nvPr/>
        </p:nvSpPr>
        <p:spPr>
          <a:xfrm>
            <a:off x="77480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943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943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223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223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Notify vendor &amp; buyer</a:t>
            </a:r>
          </a:p>
        </p:txBody>
      </p:sp>
      <p:sp>
        <p:nvSpPr>
          <p:cNvPr id="73" name="Chevron 72"/>
          <p:cNvSpPr/>
          <p:nvPr/>
        </p:nvSpPr>
        <p:spPr>
          <a:xfrm>
            <a:off x="89418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881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88119" y="3794759"/>
            <a:ext cx="1029207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161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HUMAN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61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Buyer reviews ambiguous</a:t>
            </a:r>
          </a:p>
        </p:txBody>
      </p:sp>
      <p:sp>
        <p:nvSpPr>
          <p:cNvPr id="78" name="Chevron 77"/>
          <p:cNvSpPr/>
          <p:nvPr/>
        </p:nvSpPr>
        <p:spPr>
          <a:xfrm>
            <a:off x="10135615" y="4142231"/>
            <a:ext cx="128016" cy="128016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281919" y="3794759"/>
            <a:ext cx="102920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281919" y="3794759"/>
            <a:ext cx="1029207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09935" y="3904487"/>
            <a:ext cx="80975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BOT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09935" y="4105655"/>
            <a:ext cx="809751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Close exception &amp; log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808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auto-resolved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8686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41294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$1.4M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41294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savings per plant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40172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32780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-62%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32780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buyer touch time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331659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24267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8 hrs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4267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avg resolution (was 3d)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623145" y="5120640"/>
            <a:ext cx="210860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915753" y="5212079"/>
            <a:ext cx="165140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4x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15753" y="5614416"/>
            <a:ext cx="165140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throughput per buyer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Resolution time   ·   ↓ Buyer touch time   ·   ↑ Auto-resolution rate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On-time receiving   ·   ↑ Vendor relationships   ·   ↓ Production delays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Technology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Finance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AR collections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Agentic collections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prioritize accounts; bots reach out; collectors close the complex calls.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388" y="201168"/>
            <a:ext cx="1236371" cy="402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047324" y="246888"/>
            <a:ext cx="310896" cy="310896"/>
          </a:xfrm>
          <a:prstGeom prst="ellipse">
            <a:avLst/>
          </a:prstGeom>
          <a:noFill/>
          <a:ln w="34544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28157" y="382127"/>
            <a:ext cx="149230" cy="40416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82563" y="327720"/>
            <a:ext cx="40416" cy="149230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1676" y="228600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Salesforce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AR teams chase low-value accounts manually while high-risk ones go cold. Aging balances inflate and DSO drifts upward.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74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DSO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 aged receivables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time on low-value accounts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Agents prioritize by risk and payment behavior; bots send dunning notices and log disputes; collectors handle the high-touch calls.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17835" y="2852927"/>
            <a:ext cx="122986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17835" y="2852927"/>
            <a:ext cx="12298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API Integration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01 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Prioritize by risk score</a:t>
            </a:r>
          </a:p>
        </p:txBody>
      </p:sp>
      <p:sp>
        <p:nvSpPr>
          <p:cNvPr id="37" name="Chevron 36"/>
          <p:cNvSpPr/>
          <p:nvPr/>
        </p:nvSpPr>
        <p:spPr>
          <a:xfrm>
            <a:off x="2673095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04743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04743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2760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02  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32760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Send targeted dunning notices</a:t>
            </a:r>
          </a:p>
        </p:txBody>
      </p:sp>
      <p:sp>
        <p:nvSpPr>
          <p:cNvPr id="42" name="Chevron 41"/>
          <p:cNvSpPr/>
          <p:nvPr/>
        </p:nvSpPr>
        <p:spPr>
          <a:xfrm>
            <a:off x="4846319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7967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7967" y="3794759"/>
            <a:ext cx="191109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05983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03 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5983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customer responses</a:t>
            </a:r>
          </a:p>
        </p:txBody>
      </p:sp>
      <p:sp>
        <p:nvSpPr>
          <p:cNvPr id="47" name="Chevron 46"/>
          <p:cNvSpPr/>
          <p:nvPr/>
        </p:nvSpPr>
        <p:spPr>
          <a:xfrm>
            <a:off x="7019543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51192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51192" y="3794759"/>
            <a:ext cx="191109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79208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04  HUMAN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79208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Collector handles complex</a:t>
            </a:r>
          </a:p>
        </p:txBody>
      </p:sp>
      <p:sp>
        <p:nvSpPr>
          <p:cNvPr id="52" name="Chevron 51"/>
          <p:cNvSpPr/>
          <p:nvPr/>
        </p:nvSpPr>
        <p:spPr>
          <a:xfrm>
            <a:off x="9192768" y="4105655"/>
            <a:ext cx="201168" cy="201168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24416" y="3794759"/>
            <a:ext cx="191109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24416" y="3794759"/>
            <a:ext cx="191109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52432" y="3904487"/>
            <a:ext cx="169163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05  BOT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2432" y="4105655"/>
            <a:ext cx="16916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Log outcome to Salesforce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DSO reduction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85916" y="5120640"/>
            <a:ext cx="5545836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8524" y="5212079"/>
            <a:ext cx="50886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$3.8M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78524" y="5614416"/>
            <a:ext cx="508863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aged AR recovered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↓ DSO   ·   ↓ Collector touch per account   ·   ↑ Right-party contact rate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Collector morale   ·   ↓ Customer friction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