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Healthcare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Claims Processing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Medical Claim Adjudication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Medical claim adjudication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Agents classify claims; bots verify eligibility and contracts; humans review edge cases.</a:t>
            </a:r>
          </a:p>
        </p:txBody>
      </p:sp>
      <p:pic>
        <p:nvPicPr>
          <p:cNvPr id="5" name="Picture 4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1785" y="274320"/>
            <a:ext cx="1123974" cy="3657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269449" y="356616"/>
            <a:ext cx="201168" cy="201168"/>
          </a:xfrm>
          <a:prstGeom prst="ellipse">
            <a:avLst/>
          </a:prstGeom>
          <a:noFill/>
          <a:ln w="25400">
            <a:solidFill>
              <a:srgbClr val="1A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21753" y="444124"/>
            <a:ext cx="96560" cy="26151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56957" y="408919"/>
            <a:ext cx="26151" cy="96560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25865" y="283464"/>
            <a:ext cx="10424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A2330"/>
                </a:solidFill>
                <a:latin typeface="Poppins"/>
              </a:rPr>
              <a:t>Anthem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75688"/>
            <a:ext cx="486003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High-volume inbound claims require manual review across clinical codes, member eligibility, and provider contracts.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annual processing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2972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12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2972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average claim processing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8704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8704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inbound claims backlog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1E6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1675" y="2075688"/>
            <a:ext cx="4860036" cy="667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Poppins"/>
              </a:rPr>
              <a:t>UiPath Agents classify and triage claims by clinical codes; Unattended Robots verify eligibility and contracts automatically.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1675" y="2852927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1675" y="2852927"/>
            <a:ext cx="61264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747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7475" y="2852927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Unattended Robots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77655" y="2852927"/>
            <a:ext cx="10927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77655" y="2852927"/>
            <a:ext cx="10927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Action Center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4351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43515" y="2852927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Doc Understanding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01  BOT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Ingest claims via EDI &amp; PDF</a:t>
            </a:r>
          </a:p>
        </p:txBody>
      </p:sp>
      <p:sp>
        <p:nvSpPr>
          <p:cNvPr id="37" name="Chevron 36"/>
          <p:cNvSpPr/>
          <p:nvPr/>
        </p:nvSpPr>
        <p:spPr>
          <a:xfrm>
            <a:off x="2104861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72501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72501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00517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02 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00517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Classify by clinical codes</a:t>
            </a:r>
          </a:p>
        </p:txBody>
      </p:sp>
      <p:sp>
        <p:nvSpPr>
          <p:cNvPr id="42" name="Chevron 41"/>
          <p:cNvSpPr/>
          <p:nvPr/>
        </p:nvSpPr>
        <p:spPr>
          <a:xfrm>
            <a:off x="3645843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13483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13483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41499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03  BOT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41499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Verify member eligibility</a:t>
            </a:r>
          </a:p>
        </p:txBody>
      </p:sp>
      <p:sp>
        <p:nvSpPr>
          <p:cNvPr id="47" name="Chevron 46"/>
          <p:cNvSpPr/>
          <p:nvPr/>
        </p:nvSpPr>
        <p:spPr>
          <a:xfrm>
            <a:off x="5186825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354465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354465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2481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04  BOT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2481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Validate provider contract</a:t>
            </a:r>
          </a:p>
        </p:txBody>
      </p:sp>
      <p:sp>
        <p:nvSpPr>
          <p:cNvPr id="52" name="Chevron 51"/>
          <p:cNvSpPr/>
          <p:nvPr/>
        </p:nvSpPr>
        <p:spPr>
          <a:xfrm>
            <a:off x="6727806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95446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95446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23462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05  AGENT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23462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Route routine for approval</a:t>
            </a:r>
          </a:p>
        </p:txBody>
      </p:sp>
      <p:sp>
        <p:nvSpPr>
          <p:cNvPr id="57" name="Chevron 56"/>
          <p:cNvSpPr/>
          <p:nvPr/>
        </p:nvSpPr>
        <p:spPr>
          <a:xfrm>
            <a:off x="8268788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436428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436428" y="3794759"/>
            <a:ext cx="1352005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64444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06  HUMAN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64444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Adjudicate exceptions</a:t>
            </a:r>
          </a:p>
        </p:txBody>
      </p:sp>
      <p:sp>
        <p:nvSpPr>
          <p:cNvPr id="62" name="Chevron 61"/>
          <p:cNvSpPr/>
          <p:nvPr/>
        </p:nvSpPr>
        <p:spPr>
          <a:xfrm>
            <a:off x="9809770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97741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97741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05426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07  BOT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05426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Issue reimbursement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9808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808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annual savings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76344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68952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10 days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68952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cycle time reduction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95488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88096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2 days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88096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new avg processing time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A2B3"/>
                </a:solidFill>
                <a:latin typeface="Poppins"/>
              </a:rPr>
              <a:t>Attributable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directly moved, not yet quantified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1A2330"/>
                </a:solidFill>
                <a:latin typeface="Poppins"/>
              </a:rPr>
              <a:t>↓ Days in claims queue   ·   ↓ Manual review touches   ·   ↑ First-pass approval rate   ·   ↑ Provider satisfaction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31636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14516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A9100"/>
                </a:solidFill>
                <a:latin typeface="Poppins"/>
              </a:rPr>
              <a:t>Downstream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second-order effects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14516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↑ Staff retention   ·   ↑ Member and provider NPS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