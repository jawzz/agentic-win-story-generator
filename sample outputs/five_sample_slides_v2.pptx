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A6B78"/>
                </a:solidFill>
                <a:latin typeface="Poppins"/>
              </a:rPr>
              <a:t>Healthcare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5A6B78"/>
                </a:solidFill>
                <a:latin typeface="Poppins"/>
              </a:rPr>
              <a:t>Claims Processing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1A2330"/>
                </a:solidFill>
                <a:latin typeface="Poppins"/>
              </a:rPr>
              <a:t>Medical Claim Adjudication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A2330"/>
                </a:solidFill>
                <a:latin typeface="Poppins"/>
              </a:rPr>
              <a:t>Medical claim adjudication</a:t>
            </a:r>
          </a:p>
          <a:p>
            <a:r>
              <a:rPr sz="1300">
                <a:solidFill>
                  <a:srgbClr val="5A6B78"/>
                </a:solidFill>
                <a:latin typeface="Poppins"/>
              </a:rPr>
              <a:t>Agents classify claims; bots verify eligibility and contracts; humans review edge cases.</a:t>
            </a:r>
          </a:p>
        </p:txBody>
      </p:sp>
      <p:pic>
        <p:nvPicPr>
          <p:cNvPr id="5" name="Picture 4" descr="uipath_logo_2400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9388" y="201168"/>
            <a:ext cx="1236371" cy="402336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0102188" y="246888"/>
            <a:ext cx="310896" cy="310896"/>
          </a:xfrm>
          <a:prstGeom prst="ellipse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76803" y="385236"/>
            <a:ext cx="161665" cy="341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240536" y="321503"/>
            <a:ext cx="34198" cy="1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13468" y="228600"/>
            <a:ext cx="104241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A2330"/>
                </a:solidFill>
                <a:latin typeface="Poppins"/>
              </a:rPr>
              <a:t>Anthem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11274552" cy="13716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5500116" cy="178308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75688"/>
            <a:ext cx="4860036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Poppins"/>
              </a:rPr>
              <a:t>High-volume inbound claims require manual review across clinical codes, member eligibility, and provider contracts, creating a bottleneck that delays reimbursements and frustrates providers.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$3.4M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annual processing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2972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12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2972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average claim processing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8704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08704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inbound claims backlog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508760"/>
            <a:ext cx="5500116" cy="178308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1675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1675" y="2075688"/>
            <a:ext cx="4860036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Poppins"/>
              </a:rPr>
              <a:t>Document Understanding extracts clinical codes and member IDs; agents cross-reference eligibility and contract terms across 5 systems; humans handle exception claims with a pre-populated summary.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1675" y="2633471"/>
            <a:ext cx="61264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1675" y="2633471"/>
            <a:ext cx="61264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Agents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7475" y="2633471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7475" y="2633471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Doc Understanding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77655" y="2633471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77655" y="2633471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Unattended Robots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17835" y="2633471"/>
            <a:ext cx="10927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17835" y="2633471"/>
            <a:ext cx="10927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Action Center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51675" y="2944367"/>
            <a:ext cx="102412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1675" y="2944367"/>
            <a:ext cx="102412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Data Service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383279"/>
            <a:ext cx="11274552" cy="128016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493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What the automation does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01  BOT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Ingest claims via EDI &amp; PDF</a:t>
            </a:r>
          </a:p>
        </p:txBody>
      </p:sp>
      <p:sp>
        <p:nvSpPr>
          <p:cNvPr id="39" name="Chevron 38"/>
          <p:cNvSpPr/>
          <p:nvPr/>
        </p:nvSpPr>
        <p:spPr>
          <a:xfrm>
            <a:off x="2104861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272501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272501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00517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02  BOT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00517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Extract codes &amp; member IDs</a:t>
            </a:r>
          </a:p>
        </p:txBody>
      </p:sp>
      <p:sp>
        <p:nvSpPr>
          <p:cNvPr id="44" name="Chevron 43"/>
          <p:cNvSpPr/>
          <p:nvPr/>
        </p:nvSpPr>
        <p:spPr>
          <a:xfrm>
            <a:off x="3645843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813483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813483" y="3794759"/>
            <a:ext cx="1352005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41499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03  AGENT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41499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Cross-reference eligibility</a:t>
            </a:r>
          </a:p>
        </p:txBody>
      </p:sp>
      <p:sp>
        <p:nvSpPr>
          <p:cNvPr id="49" name="Chevron 48"/>
          <p:cNvSpPr/>
          <p:nvPr/>
        </p:nvSpPr>
        <p:spPr>
          <a:xfrm>
            <a:off x="5186825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354465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354465" y="3794759"/>
            <a:ext cx="1352005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2481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04  AGENT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2481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Validate contract &amp; policy</a:t>
            </a:r>
          </a:p>
        </p:txBody>
      </p:sp>
      <p:sp>
        <p:nvSpPr>
          <p:cNvPr id="54" name="Chevron 53"/>
          <p:cNvSpPr/>
          <p:nvPr/>
        </p:nvSpPr>
        <p:spPr>
          <a:xfrm>
            <a:off x="6727806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95446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895446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23462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05  BOT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23462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Auto-adjudicate clean claims</a:t>
            </a:r>
          </a:p>
        </p:txBody>
      </p:sp>
      <p:sp>
        <p:nvSpPr>
          <p:cNvPr id="59" name="Chevron 58"/>
          <p:cNvSpPr/>
          <p:nvPr/>
        </p:nvSpPr>
        <p:spPr>
          <a:xfrm>
            <a:off x="8268788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436428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436428" y="3794759"/>
            <a:ext cx="1352005" cy="45720"/>
          </a:xfrm>
          <a:prstGeom prst="rect">
            <a:avLst/>
          </a:prstGeom>
          <a:solidFill>
            <a:srgbClr val="DA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64444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DA9100"/>
                </a:solidFill>
                <a:latin typeface="Poppins"/>
              </a:rPr>
              <a:t>06  HUMAN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64444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Review exception claims</a:t>
            </a:r>
          </a:p>
        </p:txBody>
      </p:sp>
      <p:sp>
        <p:nvSpPr>
          <p:cNvPr id="64" name="Chevron 63"/>
          <p:cNvSpPr/>
          <p:nvPr/>
        </p:nvSpPr>
        <p:spPr>
          <a:xfrm>
            <a:off x="9809770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977410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977410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105426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07  BOT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05426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Sync outcome &amp; notify provider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475487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Measured outcomes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49808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$3.4M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9808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annual savings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76344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68952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10 days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68952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cycle time reduction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95488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388096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2 days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88096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new avg processing time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0080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A2B3"/>
                </a:solidFill>
                <a:latin typeface="Poppins"/>
              </a:rPr>
              <a:t>Attributable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directly moved, not yet quantified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1A2330"/>
                </a:solidFill>
                <a:latin typeface="Poppins"/>
              </a:rPr>
              <a:t>↓ Days in claims queue   ·   ↓ Manual review touches   ·   ↑ First-pass approval rate   ·   ↑ Provider satisfaction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231636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14516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A9100"/>
                </a:solidFill>
                <a:latin typeface="Poppins"/>
              </a:rPr>
              <a:t>Downstream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second-order effects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14516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↑ Staff retention   ·   ↑ Member and provider NPS   ·   ↓ Compliance risk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A6B78"/>
                </a:solidFill>
                <a:latin typeface="Poppins"/>
              </a:rPr>
              <a:t>Banking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5A6B78"/>
                </a:solidFill>
                <a:latin typeface="Poppins"/>
              </a:rPr>
              <a:t>Compliance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1A2330"/>
                </a:solidFill>
                <a:latin typeface="Poppins"/>
              </a:rPr>
              <a:t>KYC refresh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A2330"/>
                </a:solidFill>
                <a:latin typeface="Poppins"/>
              </a:rPr>
              <a:t>KYC refresh triage</a:t>
            </a:r>
          </a:p>
          <a:p>
            <a:r>
              <a:rPr sz="1300">
                <a:solidFill>
                  <a:srgbClr val="5A6B78"/>
                </a:solidFill>
                <a:latin typeface="Poppins"/>
              </a:rPr>
              <a:t>Agents tier risk; bots pull records; analysts review complex cases only.</a:t>
            </a:r>
          </a:p>
        </p:txBody>
      </p:sp>
      <p:pic>
        <p:nvPicPr>
          <p:cNvPr id="5" name="Picture 4" descr="uipath_logo_2400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9388" y="201168"/>
            <a:ext cx="1236371" cy="402336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0102188" y="246888"/>
            <a:ext cx="310896" cy="310896"/>
          </a:xfrm>
          <a:prstGeom prst="ellipse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76803" y="385236"/>
            <a:ext cx="161665" cy="341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240536" y="321503"/>
            <a:ext cx="34198" cy="1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85452" y="228600"/>
            <a:ext cx="117043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A2330"/>
                </a:solidFill>
                <a:latin typeface="Poppins"/>
              </a:rPr>
              <a:t>Regions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11274552" cy="13716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5500116" cy="178308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75688"/>
            <a:ext cx="4860036" cy="1069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Poppins"/>
              </a:rPr>
              <a:t>Periodic KYC refresh drowns compliance analysts in low-risk cases while true high-risk work sits waiting. Manual rework triples handling time and lets backlogs grow past SLA.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1508760"/>
            <a:ext cx="5500116" cy="178308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1675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1675" y="2075688"/>
            <a:ext cx="4860036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Poppins"/>
              </a:rPr>
              <a:t>Agents tier clients by risk; bots pull records from core banking and sanctions lists; analysts review only complex cases.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51675" y="2633471"/>
            <a:ext cx="61264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1675" y="2633471"/>
            <a:ext cx="61264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Agents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37475" y="2633471"/>
            <a:ext cx="6812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7475" y="2633471"/>
            <a:ext cx="6812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Maestro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91855" y="2633471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91855" y="2633471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Doc Understanding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32035" y="2633471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32035" y="2633471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Unattended Robots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1675" y="2944367"/>
            <a:ext cx="12298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1675" y="2944367"/>
            <a:ext cx="122986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API Integration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383279"/>
            <a:ext cx="11274552" cy="128016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493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What the automation does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794759"/>
            <a:ext cx="158953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3794759"/>
            <a:ext cx="1589532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3904487"/>
            <a:ext cx="13700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01 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4105655"/>
            <a:ext cx="137007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Score risk tier from activity</a:t>
            </a:r>
          </a:p>
        </p:txBody>
      </p:sp>
      <p:sp>
        <p:nvSpPr>
          <p:cNvPr id="33" name="Chevron 32"/>
          <p:cNvSpPr/>
          <p:nvPr/>
        </p:nvSpPr>
        <p:spPr>
          <a:xfrm>
            <a:off x="2345436" y="4123944"/>
            <a:ext cx="164592" cy="164592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534412" y="3794759"/>
            <a:ext cx="158953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534412" y="3794759"/>
            <a:ext cx="1589532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62428" y="3904487"/>
            <a:ext cx="13700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02  BOT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62428" y="4105655"/>
            <a:ext cx="137007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Pull KYC from core banking</a:t>
            </a:r>
          </a:p>
        </p:txBody>
      </p:sp>
      <p:sp>
        <p:nvSpPr>
          <p:cNvPr id="38" name="Chevron 37"/>
          <p:cNvSpPr/>
          <p:nvPr/>
        </p:nvSpPr>
        <p:spPr>
          <a:xfrm>
            <a:off x="4148327" y="4123944"/>
            <a:ext cx="164592" cy="164592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37304" y="3794759"/>
            <a:ext cx="158953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37304" y="3794759"/>
            <a:ext cx="1589532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65320" y="3904487"/>
            <a:ext cx="13700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03  BOT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65320" y="4105655"/>
            <a:ext cx="137007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Query sanctions &amp; watchlists</a:t>
            </a:r>
          </a:p>
        </p:txBody>
      </p:sp>
      <p:sp>
        <p:nvSpPr>
          <p:cNvPr id="43" name="Chevron 42"/>
          <p:cNvSpPr/>
          <p:nvPr/>
        </p:nvSpPr>
        <p:spPr>
          <a:xfrm>
            <a:off x="5951220" y="4123944"/>
            <a:ext cx="164592" cy="164592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40196" y="3794759"/>
            <a:ext cx="158953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40196" y="3794759"/>
            <a:ext cx="1589532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8212" y="3904487"/>
            <a:ext cx="13700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04  AGENT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8212" y="4105655"/>
            <a:ext cx="137007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Summarize findings, flag anomalies</a:t>
            </a:r>
          </a:p>
        </p:txBody>
      </p:sp>
      <p:sp>
        <p:nvSpPr>
          <p:cNvPr id="48" name="Chevron 47"/>
          <p:cNvSpPr/>
          <p:nvPr/>
        </p:nvSpPr>
        <p:spPr>
          <a:xfrm>
            <a:off x="7754112" y="4123944"/>
            <a:ext cx="164592" cy="164592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943087" y="3794759"/>
            <a:ext cx="158953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943087" y="3794759"/>
            <a:ext cx="1589532" cy="45720"/>
          </a:xfrm>
          <a:prstGeom prst="rect">
            <a:avLst/>
          </a:prstGeom>
          <a:solidFill>
            <a:srgbClr val="DA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71104" y="3904487"/>
            <a:ext cx="13700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DA9100"/>
                </a:solidFill>
                <a:latin typeface="Poppins"/>
              </a:rPr>
              <a:t>05  HUMAN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71104" y="4105655"/>
            <a:ext cx="137007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Analyst reviews complex cases</a:t>
            </a:r>
          </a:p>
        </p:txBody>
      </p:sp>
      <p:sp>
        <p:nvSpPr>
          <p:cNvPr id="53" name="Chevron 52"/>
          <p:cNvSpPr/>
          <p:nvPr/>
        </p:nvSpPr>
        <p:spPr>
          <a:xfrm>
            <a:off x="9557004" y="4123944"/>
            <a:ext cx="164592" cy="164592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745979" y="3794759"/>
            <a:ext cx="158953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745979" y="3794759"/>
            <a:ext cx="1589532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73995" y="3904487"/>
            <a:ext cx="13700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06  BOT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73995" y="4105655"/>
            <a:ext cx="137007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Update compliance systems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475487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Measured outcomes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5120640"/>
            <a:ext cx="2681478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9808" y="5212079"/>
            <a:ext cx="222427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68%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9808" y="5614416"/>
            <a:ext cx="222427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faster case resolution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321558" y="5120640"/>
            <a:ext cx="2681478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14166" y="5212079"/>
            <a:ext cx="222427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$2.1M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14166" y="5614416"/>
            <a:ext cx="222427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annualized labor savings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85916" y="5120640"/>
            <a:ext cx="2681478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78524" y="5212079"/>
            <a:ext cx="222427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3x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78524" y="5614416"/>
            <a:ext cx="222427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throughput per analyst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050274" y="5120640"/>
            <a:ext cx="2681478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42882" y="5212079"/>
            <a:ext cx="222427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92%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42882" y="5614416"/>
            <a:ext cx="222427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low-risk auto-clear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0080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A2B3"/>
                </a:solidFill>
                <a:latin typeface="Poppins"/>
              </a:rPr>
              <a:t>Attributable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directly moved, not yet quantified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↓ Handling time per case   ·   ↓ Backlog age   ·   ↑ Cases cleared per analyst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31636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14516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A9100"/>
                </a:solidFill>
                <a:latin typeface="Poppins"/>
              </a:rPr>
              <a:t>Downstream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second-order effects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14516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↑ Audit readiness   ·   ↓ Regulatory exposure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A6B78"/>
                </a:solidFill>
                <a:latin typeface="Poppins"/>
              </a:rPr>
              <a:t>Insurance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5A6B78"/>
                </a:solidFill>
                <a:latin typeface="Poppins"/>
              </a:rPr>
              <a:t>Claims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1A2330"/>
                </a:solidFill>
                <a:latin typeface="Poppins"/>
              </a:rPr>
              <a:t>FNOL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A2330"/>
                </a:solidFill>
                <a:latin typeface="Poppins"/>
              </a:rPr>
              <a:t>FNOL triage in minutes</a:t>
            </a:r>
          </a:p>
          <a:p>
            <a:r>
              <a:rPr sz="1300">
                <a:solidFill>
                  <a:srgbClr val="5A6B78"/>
                </a:solidFill>
                <a:latin typeface="Poppins"/>
              </a:rPr>
              <a:t>Agents classify loss; bots enrich; adjusters focus on the complex.</a:t>
            </a:r>
          </a:p>
        </p:txBody>
      </p:sp>
      <p:pic>
        <p:nvPicPr>
          <p:cNvPr id="5" name="Picture 4" descr="uipath_logo_2400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9388" y="201168"/>
            <a:ext cx="1236371" cy="402336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0102188" y="246888"/>
            <a:ext cx="310896" cy="310896"/>
          </a:xfrm>
          <a:prstGeom prst="ellipse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76803" y="385236"/>
            <a:ext cx="161665" cy="341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240536" y="321503"/>
            <a:ext cx="34198" cy="1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57436" y="228600"/>
            <a:ext cx="129844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A2330"/>
                </a:solidFill>
                <a:latin typeface="Poppins"/>
              </a:rPr>
              <a:t>Allstate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11274552" cy="13716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5500116" cy="178308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75688"/>
            <a:ext cx="486003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Poppins"/>
              </a:rPr>
              <a:t>First notice of loss arrives in dozens of formats — calls, emails, forms. Triage and routing eat adjuster time before real work begins.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33471"/>
            <a:ext cx="236143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48%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62655"/>
            <a:ext cx="2361437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of adjuster time on intake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5837" y="2633471"/>
            <a:ext cx="236143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$7B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5837" y="2962655"/>
            <a:ext cx="2361437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industry-wide FNOL cost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1636" y="1508760"/>
            <a:ext cx="5500116" cy="178308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1675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1675" y="2075688"/>
            <a:ext cx="4860036" cy="667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Poppins"/>
              </a:rPr>
              <a:t>Agents classify loss type and severity; bots enrich with policy and loss history; adjusters approve and route.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51675" y="2852927"/>
            <a:ext cx="61264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1675" y="2852927"/>
            <a:ext cx="61264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Agents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37475" y="2852927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7475" y="2852927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Doc Understanding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77655" y="2852927"/>
            <a:ext cx="10927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77655" y="2852927"/>
            <a:ext cx="10927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Action Center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43515" y="2852927"/>
            <a:ext cx="12298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43515" y="2852927"/>
            <a:ext cx="122986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API Integration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383279"/>
            <a:ext cx="11274552" cy="128016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493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What the automation does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794759"/>
            <a:ext cx="246202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3794759"/>
            <a:ext cx="2462022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3904487"/>
            <a:ext cx="224256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01  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4105655"/>
            <a:ext cx="224256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Classify loss from intake</a:t>
            </a:r>
          </a:p>
        </p:txBody>
      </p:sp>
      <p:sp>
        <p:nvSpPr>
          <p:cNvPr id="35" name="Chevron 34"/>
          <p:cNvSpPr/>
          <p:nvPr/>
        </p:nvSpPr>
        <p:spPr>
          <a:xfrm>
            <a:off x="3224021" y="4105655"/>
            <a:ext cx="201168" cy="201168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55669" y="3794759"/>
            <a:ext cx="246202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55669" y="3794759"/>
            <a:ext cx="2462022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83686" y="3904487"/>
            <a:ext cx="224256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02  BOT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83686" y="4105655"/>
            <a:ext cx="224256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Pull policy &amp; coverage</a:t>
            </a:r>
          </a:p>
        </p:txBody>
      </p:sp>
      <p:sp>
        <p:nvSpPr>
          <p:cNvPr id="40" name="Chevron 39"/>
          <p:cNvSpPr/>
          <p:nvPr/>
        </p:nvSpPr>
        <p:spPr>
          <a:xfrm>
            <a:off x="5948171" y="4105655"/>
            <a:ext cx="201168" cy="201168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79820" y="3794759"/>
            <a:ext cx="246202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79820" y="3794759"/>
            <a:ext cx="2462022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7835" y="3904487"/>
            <a:ext cx="224256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03  AGENT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7835" y="4105655"/>
            <a:ext cx="224256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Assess severity, suggest route</a:t>
            </a:r>
          </a:p>
        </p:txBody>
      </p:sp>
      <p:sp>
        <p:nvSpPr>
          <p:cNvPr id="45" name="Chevron 44"/>
          <p:cNvSpPr/>
          <p:nvPr/>
        </p:nvSpPr>
        <p:spPr>
          <a:xfrm>
            <a:off x="8672321" y="4105655"/>
            <a:ext cx="201168" cy="201168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903969" y="3794759"/>
            <a:ext cx="246202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903969" y="3794759"/>
            <a:ext cx="2462022" cy="45720"/>
          </a:xfrm>
          <a:prstGeom prst="rect">
            <a:avLst/>
          </a:prstGeom>
          <a:solidFill>
            <a:srgbClr val="DA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31986" y="3904487"/>
            <a:ext cx="224256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DA9100"/>
                </a:solidFill>
                <a:latin typeface="Poppins"/>
              </a:rPr>
              <a:t>04  HUMAN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31986" y="4105655"/>
            <a:ext cx="224256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Adjuster reviews &amp; approves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475487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Measured outcomes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9808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9 min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808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avg triage time (was 3.5 hrs)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276344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68952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$4.8M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68952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annual savings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95488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88096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85%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88096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straight-through routing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A2B3"/>
                </a:solidFill>
                <a:latin typeface="Poppins"/>
              </a:rPr>
              <a:t>Attributable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directly moved, not yet quantified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↓ Triage time   ·   ↓ Manual handoffs   ·   ↑ First-time-right routing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31636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14516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A9100"/>
                </a:solidFill>
                <a:latin typeface="Poppins"/>
              </a:rPr>
              <a:t>Downstream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second-order effects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14516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↑ Customer NPS   ·   ↑ Adjuster retention   ·   ↓ Leakage on small claims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A6B78"/>
                </a:solidFill>
                <a:latin typeface="Poppins"/>
              </a:rPr>
              <a:t>Manufacturing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5A6B78"/>
                </a:solidFill>
                <a:latin typeface="Poppins"/>
              </a:rPr>
              <a:t>Supply chain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1A2330"/>
                </a:solidFill>
                <a:latin typeface="Poppins"/>
              </a:rPr>
              <a:t>PO exception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A2330"/>
                </a:solidFill>
                <a:latin typeface="Poppins"/>
              </a:rPr>
              <a:t>PO exception auto-resolve</a:t>
            </a:r>
          </a:p>
          <a:p>
            <a:r>
              <a:rPr sz="1300">
                <a:solidFill>
                  <a:srgbClr val="5A6B78"/>
                </a:solidFill>
                <a:latin typeface="Poppins"/>
              </a:rPr>
              <a:t>Nine-step orchestration catches exceptions, diagnoses root cause, and auto-resolves 80%.</a:t>
            </a:r>
          </a:p>
        </p:txBody>
      </p:sp>
      <p:pic>
        <p:nvPicPr>
          <p:cNvPr id="5" name="Picture 4" descr="uipath_logo_2400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9388" y="201168"/>
            <a:ext cx="1236371" cy="402336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0102188" y="246888"/>
            <a:ext cx="310896" cy="310896"/>
          </a:xfrm>
          <a:prstGeom prst="ellipse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76803" y="385236"/>
            <a:ext cx="161665" cy="341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240536" y="321503"/>
            <a:ext cx="34198" cy="1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85452" y="228600"/>
            <a:ext cx="117043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A2330"/>
                </a:solidFill>
                <a:latin typeface="Poppins"/>
              </a:rPr>
              <a:t>Siemens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11274552" cy="13716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5500116" cy="178308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75688"/>
            <a:ext cx="486003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Poppins"/>
              </a:rPr>
              <a:t>PO exceptions hold up receiving and delay production. Buyers play detective across ERP, vendor portals, and email.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33471"/>
            <a:ext cx="111213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21%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62655"/>
            <a:ext cx="111213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of POs with exceptions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6538" y="2633471"/>
            <a:ext cx="111213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$4K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26538" y="2962655"/>
            <a:ext cx="111213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avg cost per exception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75837" y="2633471"/>
            <a:ext cx="111213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3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5837" y="2962655"/>
            <a:ext cx="111213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avg resolution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5136" y="2633471"/>
            <a:ext cx="111213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60%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5136" y="2962655"/>
            <a:ext cx="111213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buyer touch required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1508760"/>
            <a:ext cx="5500116" cy="178308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1675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1675" y="2075688"/>
            <a:ext cx="4860036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Poppins"/>
              </a:rPr>
              <a:t>Agents diagnose root cause; bots cross-check ERP, vendor portals, and shipping; buyers handle only ambiguous cases.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1675" y="2633471"/>
            <a:ext cx="61264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1675" y="2633471"/>
            <a:ext cx="61264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Agents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37475" y="2633471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37475" y="2633471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Unattended Robots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77655" y="2633471"/>
            <a:ext cx="12298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77655" y="2633471"/>
            <a:ext cx="122986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API Integration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80676" y="2633471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80676" y="2633471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Doc Understanding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51675" y="2944367"/>
            <a:ext cx="10927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1675" y="2944367"/>
            <a:ext cx="10927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Action Center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17536" y="2944367"/>
            <a:ext cx="102412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17536" y="2944367"/>
            <a:ext cx="102412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Data Service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383279"/>
            <a:ext cx="11274552" cy="128016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493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What the automation does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3794759"/>
            <a:ext cx="1029207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1520" y="3794759"/>
            <a:ext cx="1029207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536" y="3904487"/>
            <a:ext cx="80975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AGENT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" y="4105655"/>
            <a:ext cx="80975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Detect PO exception</a:t>
            </a:r>
          </a:p>
        </p:txBody>
      </p:sp>
      <p:sp>
        <p:nvSpPr>
          <p:cNvPr id="43" name="Chevron 42"/>
          <p:cNvSpPr/>
          <p:nvPr/>
        </p:nvSpPr>
        <p:spPr>
          <a:xfrm>
            <a:off x="1779016" y="4142231"/>
            <a:ext cx="128016" cy="128016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925320" y="3794759"/>
            <a:ext cx="1029207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925320" y="3794759"/>
            <a:ext cx="1029207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53336" y="3904487"/>
            <a:ext cx="80975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BOT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3336" y="4105655"/>
            <a:ext cx="80975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Pull vendor ack &amp; ASN</a:t>
            </a:r>
          </a:p>
        </p:txBody>
      </p:sp>
      <p:sp>
        <p:nvSpPr>
          <p:cNvPr id="48" name="Chevron 47"/>
          <p:cNvSpPr/>
          <p:nvPr/>
        </p:nvSpPr>
        <p:spPr>
          <a:xfrm>
            <a:off x="2972815" y="4142231"/>
            <a:ext cx="128016" cy="128016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119120" y="3794759"/>
            <a:ext cx="1029207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19120" y="3794759"/>
            <a:ext cx="1029207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47136" y="3904487"/>
            <a:ext cx="80975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AGENT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47136" y="4105655"/>
            <a:ext cx="80975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Diagnose root cause</a:t>
            </a:r>
          </a:p>
        </p:txBody>
      </p:sp>
      <p:sp>
        <p:nvSpPr>
          <p:cNvPr id="53" name="Chevron 52"/>
          <p:cNvSpPr/>
          <p:nvPr/>
        </p:nvSpPr>
        <p:spPr>
          <a:xfrm>
            <a:off x="4166615" y="4142231"/>
            <a:ext cx="128016" cy="128016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12919" y="3794759"/>
            <a:ext cx="1029207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12919" y="3794759"/>
            <a:ext cx="1029207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40935" y="3904487"/>
            <a:ext cx="80975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BOT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40935" y="4105655"/>
            <a:ext cx="80975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Check shipping &amp; receiving</a:t>
            </a:r>
          </a:p>
        </p:txBody>
      </p:sp>
      <p:sp>
        <p:nvSpPr>
          <p:cNvPr id="58" name="Chevron 57"/>
          <p:cNvSpPr/>
          <p:nvPr/>
        </p:nvSpPr>
        <p:spPr>
          <a:xfrm>
            <a:off x="5360415" y="4142231"/>
            <a:ext cx="128016" cy="128016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06719" y="3794759"/>
            <a:ext cx="1029207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506719" y="3794759"/>
            <a:ext cx="1029207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34735" y="3904487"/>
            <a:ext cx="80975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AGENT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34735" y="4105655"/>
            <a:ext cx="80975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Propose resolution</a:t>
            </a:r>
          </a:p>
        </p:txBody>
      </p:sp>
      <p:sp>
        <p:nvSpPr>
          <p:cNvPr id="63" name="Chevron 62"/>
          <p:cNvSpPr/>
          <p:nvPr/>
        </p:nvSpPr>
        <p:spPr>
          <a:xfrm>
            <a:off x="6554215" y="4142231"/>
            <a:ext cx="128016" cy="128016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700519" y="3794759"/>
            <a:ext cx="1029207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700519" y="3794759"/>
            <a:ext cx="1029207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28535" y="3904487"/>
            <a:ext cx="80975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BOT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28535" y="4105655"/>
            <a:ext cx="80975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Apply ERP correction</a:t>
            </a:r>
          </a:p>
        </p:txBody>
      </p:sp>
      <p:sp>
        <p:nvSpPr>
          <p:cNvPr id="68" name="Chevron 67"/>
          <p:cNvSpPr/>
          <p:nvPr/>
        </p:nvSpPr>
        <p:spPr>
          <a:xfrm>
            <a:off x="7748015" y="4142231"/>
            <a:ext cx="128016" cy="128016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894319" y="3794759"/>
            <a:ext cx="1029207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894319" y="3794759"/>
            <a:ext cx="1029207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22335" y="3904487"/>
            <a:ext cx="80975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BOT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22335" y="4105655"/>
            <a:ext cx="80975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Notify vendor &amp; buyer</a:t>
            </a:r>
          </a:p>
        </p:txBody>
      </p:sp>
      <p:sp>
        <p:nvSpPr>
          <p:cNvPr id="73" name="Chevron 72"/>
          <p:cNvSpPr/>
          <p:nvPr/>
        </p:nvSpPr>
        <p:spPr>
          <a:xfrm>
            <a:off x="8941815" y="4142231"/>
            <a:ext cx="128016" cy="128016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088119" y="3794759"/>
            <a:ext cx="1029207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088119" y="3794759"/>
            <a:ext cx="1029207" cy="45720"/>
          </a:xfrm>
          <a:prstGeom prst="rect">
            <a:avLst/>
          </a:prstGeom>
          <a:solidFill>
            <a:srgbClr val="DA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216135" y="3904487"/>
            <a:ext cx="80975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DA9100"/>
                </a:solidFill>
                <a:latin typeface="Poppins"/>
              </a:rPr>
              <a:t>HUMAN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16135" y="4105655"/>
            <a:ext cx="80975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Buyer reviews ambiguous</a:t>
            </a:r>
          </a:p>
        </p:txBody>
      </p:sp>
      <p:sp>
        <p:nvSpPr>
          <p:cNvPr id="78" name="Chevron 77"/>
          <p:cNvSpPr/>
          <p:nvPr/>
        </p:nvSpPr>
        <p:spPr>
          <a:xfrm>
            <a:off x="10135615" y="4142231"/>
            <a:ext cx="128016" cy="128016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281919" y="3794759"/>
            <a:ext cx="1029207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281919" y="3794759"/>
            <a:ext cx="1029207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409935" y="3904487"/>
            <a:ext cx="80975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BOT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409935" y="4105655"/>
            <a:ext cx="80975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Close exception &amp; log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7200" y="475487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Measured outcomes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5120640"/>
            <a:ext cx="2108606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49808" y="5212079"/>
            <a:ext cx="165140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80%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49808" y="5614416"/>
            <a:ext cx="165140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auto-resolved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8686" y="5120640"/>
            <a:ext cx="2108606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041294" y="5212079"/>
            <a:ext cx="165140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$1.4M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041294" y="5614416"/>
            <a:ext cx="165140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savings per plant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040172" y="5120640"/>
            <a:ext cx="2108606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32780" y="5212079"/>
            <a:ext cx="165140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-62%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32780" y="5614416"/>
            <a:ext cx="165140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buyer touch time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331659" y="5120640"/>
            <a:ext cx="2108606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624267" y="5212079"/>
            <a:ext cx="165140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8 hrs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624267" y="5614416"/>
            <a:ext cx="165140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avg resolution (was 3d)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623145" y="5120640"/>
            <a:ext cx="2108606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915753" y="5212079"/>
            <a:ext cx="165140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4x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915753" y="5614416"/>
            <a:ext cx="165140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throughput per buyer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57200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40080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A2B3"/>
                </a:solidFill>
                <a:latin typeface="Poppins"/>
              </a:rPr>
              <a:t>Attributable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directly moved, not yet quantified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0080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↓ Resolution time   ·   ↓ Buyer touch time   ·   ↑ Auto-resolution rate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231636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414516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A9100"/>
                </a:solidFill>
                <a:latin typeface="Poppins"/>
              </a:rPr>
              <a:t>Downstream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second-order effects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414516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↑ On-time receiving   ·   ↑ Vendor relationships   ·   ↓ Production delays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A6B78"/>
                </a:solidFill>
                <a:latin typeface="Poppins"/>
              </a:rPr>
              <a:t>Technology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5A6B78"/>
                </a:solidFill>
                <a:latin typeface="Poppins"/>
              </a:rPr>
              <a:t>Finance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1A2330"/>
                </a:solidFill>
                <a:latin typeface="Poppins"/>
              </a:rPr>
              <a:t>AR collections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A2330"/>
                </a:solidFill>
                <a:latin typeface="Poppins"/>
              </a:rPr>
              <a:t>Agentic collections</a:t>
            </a:r>
          </a:p>
          <a:p>
            <a:r>
              <a:rPr sz="1300">
                <a:solidFill>
                  <a:srgbClr val="5A6B78"/>
                </a:solidFill>
                <a:latin typeface="Poppins"/>
              </a:rPr>
              <a:t>Agents prioritize accounts; bots reach out; collectors close the complex calls.</a:t>
            </a:r>
          </a:p>
        </p:txBody>
      </p:sp>
      <p:pic>
        <p:nvPicPr>
          <p:cNvPr id="5" name="Picture 4" descr="uipath_logo_2400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9388" y="201168"/>
            <a:ext cx="1236371" cy="402336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0102188" y="246888"/>
            <a:ext cx="310896" cy="310896"/>
          </a:xfrm>
          <a:prstGeom prst="ellipse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76803" y="385236"/>
            <a:ext cx="161665" cy="341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240536" y="321503"/>
            <a:ext cx="34198" cy="1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01404" y="228600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A2330"/>
                </a:solidFill>
                <a:latin typeface="Poppins"/>
              </a:rPr>
              <a:t>Salesforce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11274552" cy="13716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5500116" cy="178308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75688"/>
            <a:ext cx="486003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Poppins"/>
              </a:rPr>
              <a:t>AR teams chase low-value accounts manually while high-risk ones go cold. Aging balances inflate and DSO drifts upward.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74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DSO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2972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$12M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2972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in aged receivables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8704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45%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08704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time on low-value accounts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508760"/>
            <a:ext cx="5500116" cy="178308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1675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1675" y="2075688"/>
            <a:ext cx="4860036" cy="667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Poppins"/>
              </a:rPr>
              <a:t>Agents prioritize by risk and payment behavior; bots send dunning notices and log disputes; collectors handle the high-touch calls.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1675" y="2852927"/>
            <a:ext cx="61264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1675" y="2852927"/>
            <a:ext cx="61264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Agents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7475" y="2852927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7475" y="2852927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Unattended Robots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77655" y="2852927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77655" y="2852927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Doc Understanding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17835" y="2852927"/>
            <a:ext cx="12298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17835" y="2852927"/>
            <a:ext cx="122986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API Integration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383279"/>
            <a:ext cx="11274552" cy="128016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493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What the automation does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794759"/>
            <a:ext cx="191109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3794759"/>
            <a:ext cx="1911095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" y="3904487"/>
            <a:ext cx="1691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01  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4105655"/>
            <a:ext cx="169163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Prioritize by risk score</a:t>
            </a:r>
          </a:p>
        </p:txBody>
      </p:sp>
      <p:sp>
        <p:nvSpPr>
          <p:cNvPr id="37" name="Chevron 36"/>
          <p:cNvSpPr/>
          <p:nvPr/>
        </p:nvSpPr>
        <p:spPr>
          <a:xfrm>
            <a:off x="2673095" y="4105655"/>
            <a:ext cx="201168" cy="201168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904743" y="3794759"/>
            <a:ext cx="191109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904743" y="3794759"/>
            <a:ext cx="191109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32760" y="3904487"/>
            <a:ext cx="1691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02  BOT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32760" y="4105655"/>
            <a:ext cx="169163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Send targeted dunning notices</a:t>
            </a:r>
          </a:p>
        </p:txBody>
      </p:sp>
      <p:sp>
        <p:nvSpPr>
          <p:cNvPr id="42" name="Chevron 41"/>
          <p:cNvSpPr/>
          <p:nvPr/>
        </p:nvSpPr>
        <p:spPr>
          <a:xfrm>
            <a:off x="4846319" y="4105655"/>
            <a:ext cx="201168" cy="201168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77967" y="3794759"/>
            <a:ext cx="191109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77967" y="3794759"/>
            <a:ext cx="1911095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05983" y="3904487"/>
            <a:ext cx="1691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03  AGENT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05983" y="4105655"/>
            <a:ext cx="169163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Classify customer responses</a:t>
            </a:r>
          </a:p>
        </p:txBody>
      </p:sp>
      <p:sp>
        <p:nvSpPr>
          <p:cNvPr id="47" name="Chevron 46"/>
          <p:cNvSpPr/>
          <p:nvPr/>
        </p:nvSpPr>
        <p:spPr>
          <a:xfrm>
            <a:off x="7019543" y="4105655"/>
            <a:ext cx="201168" cy="201168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251192" y="3794759"/>
            <a:ext cx="191109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51192" y="3794759"/>
            <a:ext cx="1911095" cy="45720"/>
          </a:xfrm>
          <a:prstGeom prst="rect">
            <a:avLst/>
          </a:prstGeom>
          <a:solidFill>
            <a:srgbClr val="DA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79208" y="3904487"/>
            <a:ext cx="1691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DA9100"/>
                </a:solidFill>
                <a:latin typeface="Poppins"/>
              </a:rPr>
              <a:t>04  HUMAN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79208" y="4105655"/>
            <a:ext cx="169163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Collector handles complex</a:t>
            </a:r>
          </a:p>
        </p:txBody>
      </p:sp>
      <p:sp>
        <p:nvSpPr>
          <p:cNvPr id="52" name="Chevron 51"/>
          <p:cNvSpPr/>
          <p:nvPr/>
        </p:nvSpPr>
        <p:spPr>
          <a:xfrm>
            <a:off x="9192768" y="4105655"/>
            <a:ext cx="201168" cy="201168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424416" y="3794759"/>
            <a:ext cx="191109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424416" y="3794759"/>
            <a:ext cx="191109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52432" y="3904487"/>
            <a:ext cx="1691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05  BOT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52432" y="4105655"/>
            <a:ext cx="169163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Log outcome to Salesforce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475487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Measured outcomes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5120640"/>
            <a:ext cx="5545836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9808" y="5212079"/>
            <a:ext cx="508863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21%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8" y="5614416"/>
            <a:ext cx="50886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DSO reduction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85916" y="5120640"/>
            <a:ext cx="5545836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78524" y="5212079"/>
            <a:ext cx="508863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$3.8M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78524" y="5614416"/>
            <a:ext cx="50886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aged AR recovered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A2B3"/>
                </a:solidFill>
                <a:latin typeface="Poppins"/>
              </a:rPr>
              <a:t>Attributable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directly moved, not yet quantified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↓ DSO   ·   ↓ Collector touch per account   ·   ↑ Right-party contact rate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31636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14516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A9100"/>
                </a:solidFill>
                <a:latin typeface="Poppins"/>
              </a:rPr>
              <a:t>Downstream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second-order effects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14516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↑ Collector morale   ·   ↓ Customer friction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