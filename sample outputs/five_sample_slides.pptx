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Healthcare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Claims Processing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Medical Claim Adjudication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Medical claim adjudication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classify claims; bots verify eligibility and contracts; humans review edge cases.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2713" y="219456"/>
            <a:ext cx="112397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41280" y="27432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5A6B78"/>
                </a:solidFill>
                <a:latin typeface="Poppins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37744"/>
            <a:ext cx="11887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 i="0">
                <a:solidFill>
                  <a:srgbClr val="1A2330"/>
                </a:solidFill>
                <a:latin typeface="Poppins"/>
              </a:rPr>
              <a:t>Anthem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75688"/>
            <a:ext cx="4860036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High-volume inbound claims require manual review across clinical codes, member eligibility, and provider contracts, creating a bottleneck that delays reimbursements and frustrates providers.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annual processing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2972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12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2972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average claim processing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8704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8704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inbound claims backlog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1675" y="2075688"/>
            <a:ext cx="4860036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Document Understanding extracts clinical codes and member IDs; agents cross-reference eligibility and contract terms across 5 systems; humans handle exception claims with a pre-populated summary.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1675" y="2633471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1675" y="2633471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37475" y="2633471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7475" y="2633471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77655" y="2633471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77655" y="2633471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17835" y="2633471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17835" y="2633471"/>
            <a:ext cx="10927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51675" y="2944367"/>
            <a:ext cx="102412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1675" y="2944367"/>
            <a:ext cx="102412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Data Service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01  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Ingest claims via EDI &amp; PDF</a:t>
            </a:r>
          </a:p>
        </p:txBody>
      </p:sp>
      <p:sp>
        <p:nvSpPr>
          <p:cNvPr id="37" name="Chevron 36"/>
          <p:cNvSpPr/>
          <p:nvPr/>
        </p:nvSpPr>
        <p:spPr>
          <a:xfrm>
            <a:off x="2104861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72501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72501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00517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02  BOT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00517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Extract codes &amp; member IDs</a:t>
            </a:r>
          </a:p>
        </p:txBody>
      </p:sp>
      <p:sp>
        <p:nvSpPr>
          <p:cNvPr id="42" name="Chevron 41"/>
          <p:cNvSpPr/>
          <p:nvPr/>
        </p:nvSpPr>
        <p:spPr>
          <a:xfrm>
            <a:off x="3645843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13483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13483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41499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03  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41499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Cross-reference eligibility</a:t>
            </a:r>
          </a:p>
        </p:txBody>
      </p:sp>
      <p:sp>
        <p:nvSpPr>
          <p:cNvPr id="47" name="Chevron 46"/>
          <p:cNvSpPr/>
          <p:nvPr/>
        </p:nvSpPr>
        <p:spPr>
          <a:xfrm>
            <a:off x="5186825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54465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54465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2481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04  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2481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Validate contract &amp; policy</a:t>
            </a:r>
          </a:p>
        </p:txBody>
      </p:sp>
      <p:sp>
        <p:nvSpPr>
          <p:cNvPr id="52" name="Chevron 51"/>
          <p:cNvSpPr/>
          <p:nvPr/>
        </p:nvSpPr>
        <p:spPr>
          <a:xfrm>
            <a:off x="6727806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95446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95446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23462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05  BOT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23462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Auto-adjudicate clean claims</a:t>
            </a:r>
          </a:p>
        </p:txBody>
      </p:sp>
      <p:sp>
        <p:nvSpPr>
          <p:cNvPr id="57" name="Chevron 56"/>
          <p:cNvSpPr/>
          <p:nvPr/>
        </p:nvSpPr>
        <p:spPr>
          <a:xfrm>
            <a:off x="8268788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36428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436428" y="3794759"/>
            <a:ext cx="1352005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64444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06  HUMAN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64444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Review exception claims</a:t>
            </a:r>
          </a:p>
        </p:txBody>
      </p:sp>
      <p:sp>
        <p:nvSpPr>
          <p:cNvPr id="62" name="Chevron 61"/>
          <p:cNvSpPr/>
          <p:nvPr/>
        </p:nvSpPr>
        <p:spPr>
          <a:xfrm>
            <a:off x="9809770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97741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97741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0542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07  BOT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542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Sync outcome &amp; notify provider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8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annual savings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76344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68952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10 days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68952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cycle time reduction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5488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88096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2 days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88096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new avg processing time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1A2330"/>
                </a:solidFill>
                <a:latin typeface="Poppins"/>
              </a:rPr>
              <a:t>↓ Days in claims queue   ·   ↓ Manual review touches   ·   ↑ First-pass approval rate   ·   ↑ Provider satisfaction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Staff retention   ·   ↑ Member and provider NPS   ·   ↓ Compliance 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Banking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Compliance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KYC refresh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KYC refresh triage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tier risk; bots pull records; analysts review complex cases only.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553" y="219456"/>
            <a:ext cx="112397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04119" y="27432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5A6B78"/>
                </a:solidFill>
                <a:latin typeface="Poppins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237744"/>
            <a:ext cx="13258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 i="0">
                <a:solidFill>
                  <a:srgbClr val="1A2330"/>
                </a:solidFill>
                <a:latin typeface="Poppins"/>
              </a:rPr>
              <a:t>Regions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75688"/>
            <a:ext cx="4860036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Poppins"/>
              </a:rPr>
              <a:t>Periodic KYC refresh drowns compliance analysts in low-risk cases while true high-risk work sits waiting. Manual rework triples handling time and lets backlogs grow past SLA.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1675" y="2075688"/>
            <a:ext cx="4860036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Agents tier clients by risk; bots pull records from core banking and sanctions lists; analysts review only complex cases.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1675" y="2633471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1675" y="2633471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37475" y="2633471"/>
            <a:ext cx="6812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7475" y="2633471"/>
            <a:ext cx="6812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Maestro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1855" y="2633471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91855" y="2633471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2035" y="2633471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32035" y="2633471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1675" y="2944367"/>
            <a:ext cx="12298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1675" y="2944367"/>
            <a:ext cx="12298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API Integration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794759"/>
            <a:ext cx="15895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3794759"/>
            <a:ext cx="1589532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3904487"/>
            <a:ext cx="13700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01 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4105655"/>
            <a:ext cx="13700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Score risk tier from activity</a:t>
            </a:r>
          </a:p>
        </p:txBody>
      </p:sp>
      <p:sp>
        <p:nvSpPr>
          <p:cNvPr id="31" name="Chevron 30"/>
          <p:cNvSpPr/>
          <p:nvPr/>
        </p:nvSpPr>
        <p:spPr>
          <a:xfrm>
            <a:off x="2345436" y="4123944"/>
            <a:ext cx="164592" cy="164592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34412" y="3794759"/>
            <a:ext cx="15895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34412" y="3794759"/>
            <a:ext cx="1589532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62428" y="3904487"/>
            <a:ext cx="13700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02  BOT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62428" y="4105655"/>
            <a:ext cx="13700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Pull KYC from core banking</a:t>
            </a:r>
          </a:p>
        </p:txBody>
      </p:sp>
      <p:sp>
        <p:nvSpPr>
          <p:cNvPr id="36" name="Chevron 35"/>
          <p:cNvSpPr/>
          <p:nvPr/>
        </p:nvSpPr>
        <p:spPr>
          <a:xfrm>
            <a:off x="4148327" y="4123944"/>
            <a:ext cx="164592" cy="164592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37304" y="3794759"/>
            <a:ext cx="15895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37304" y="3794759"/>
            <a:ext cx="1589532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65320" y="3904487"/>
            <a:ext cx="13700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03  BOT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5320" y="4105655"/>
            <a:ext cx="13700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Query sanctions &amp; watchlists</a:t>
            </a:r>
          </a:p>
        </p:txBody>
      </p:sp>
      <p:sp>
        <p:nvSpPr>
          <p:cNvPr id="41" name="Chevron 40"/>
          <p:cNvSpPr/>
          <p:nvPr/>
        </p:nvSpPr>
        <p:spPr>
          <a:xfrm>
            <a:off x="5951220" y="4123944"/>
            <a:ext cx="164592" cy="164592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40196" y="3794759"/>
            <a:ext cx="15895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40196" y="3794759"/>
            <a:ext cx="1589532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8212" y="3904487"/>
            <a:ext cx="13700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04  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8212" y="4105655"/>
            <a:ext cx="13700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Summarize findings, flag anomalies</a:t>
            </a:r>
          </a:p>
        </p:txBody>
      </p:sp>
      <p:sp>
        <p:nvSpPr>
          <p:cNvPr id="46" name="Chevron 45"/>
          <p:cNvSpPr/>
          <p:nvPr/>
        </p:nvSpPr>
        <p:spPr>
          <a:xfrm>
            <a:off x="7754112" y="4123944"/>
            <a:ext cx="164592" cy="164592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43087" y="3794759"/>
            <a:ext cx="15895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943087" y="3794759"/>
            <a:ext cx="1589532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1104" y="3904487"/>
            <a:ext cx="13700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05  HUMAN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71104" y="4105655"/>
            <a:ext cx="13700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Analyst reviews complex cases</a:t>
            </a:r>
          </a:p>
        </p:txBody>
      </p:sp>
      <p:sp>
        <p:nvSpPr>
          <p:cNvPr id="51" name="Chevron 50"/>
          <p:cNvSpPr/>
          <p:nvPr/>
        </p:nvSpPr>
        <p:spPr>
          <a:xfrm>
            <a:off x="9557004" y="4123944"/>
            <a:ext cx="164592" cy="164592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745979" y="3794759"/>
            <a:ext cx="15895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745979" y="3794759"/>
            <a:ext cx="1589532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73995" y="3904487"/>
            <a:ext cx="13700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06  BOT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3995" y="4105655"/>
            <a:ext cx="13700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Update compliance systems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120640"/>
            <a:ext cx="2681478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8" y="5212079"/>
            <a:ext cx="222427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68%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" y="5614416"/>
            <a:ext cx="222427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faster case resolution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21558" y="5120640"/>
            <a:ext cx="2681478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14166" y="5212079"/>
            <a:ext cx="222427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$2.1M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14166" y="5614416"/>
            <a:ext cx="222427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annualized labor savings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85916" y="5120640"/>
            <a:ext cx="2681478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78524" y="5212079"/>
            <a:ext cx="222427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3x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8524" y="5614416"/>
            <a:ext cx="222427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throughput per analyst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50274" y="5120640"/>
            <a:ext cx="2681478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42882" y="5212079"/>
            <a:ext cx="222427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92%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42882" y="5614416"/>
            <a:ext cx="222427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low-risk auto-clear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↓ Handling time per case   ·   ↓ Backlog age   ·   ↑ Cases cleared per analyst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Audit readiness   ·   ↓ Regulatory exposure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Insurance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Claims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FNOL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FNOL triage in minutes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classify loss; bots enrich; adjusters focus on the complex.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8393" y="219456"/>
            <a:ext cx="112397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966960" y="27432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5A6B78"/>
                </a:solidFill>
                <a:latin typeface="Poppins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37744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 i="0">
                <a:solidFill>
                  <a:srgbClr val="1A2330"/>
                </a:solidFill>
                <a:latin typeface="Poppins"/>
              </a:rPr>
              <a:t>Allstate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First notice of loss arrives in dozens of formats — calls, emails, forms. Triage and routing eat adjuster time before real work begins.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1"/>
            <a:ext cx="236143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48%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62655"/>
            <a:ext cx="236143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of adjuster time on intake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5837" y="2633471"/>
            <a:ext cx="236143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$7B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5837" y="2962655"/>
            <a:ext cx="236143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industry-wide FNOL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1675" y="2075688"/>
            <a:ext cx="4860036" cy="667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Poppins"/>
              </a:rPr>
              <a:t>Agents classify loss type and severity; bots enrich with policy and loss history; adjusters approve and route.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1675" y="2852927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1675" y="2852927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3747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3747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77655" y="2852927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77655" y="2852927"/>
            <a:ext cx="10927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43515" y="2852927"/>
            <a:ext cx="12298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43515" y="2852927"/>
            <a:ext cx="12298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API Integration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794759"/>
            <a:ext cx="246202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794759"/>
            <a:ext cx="2462022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3904487"/>
            <a:ext cx="224256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01 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4105655"/>
            <a:ext cx="224256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Classify loss from intake</a:t>
            </a:r>
          </a:p>
        </p:txBody>
      </p:sp>
      <p:sp>
        <p:nvSpPr>
          <p:cNvPr id="33" name="Chevron 32"/>
          <p:cNvSpPr/>
          <p:nvPr/>
        </p:nvSpPr>
        <p:spPr>
          <a:xfrm>
            <a:off x="3224021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55669" y="3794759"/>
            <a:ext cx="246202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55669" y="3794759"/>
            <a:ext cx="2462022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83686" y="3904487"/>
            <a:ext cx="224256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02  BOT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83686" y="4105655"/>
            <a:ext cx="224256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Pull policy &amp; coverage</a:t>
            </a:r>
          </a:p>
        </p:txBody>
      </p:sp>
      <p:sp>
        <p:nvSpPr>
          <p:cNvPr id="38" name="Chevron 37"/>
          <p:cNvSpPr/>
          <p:nvPr/>
        </p:nvSpPr>
        <p:spPr>
          <a:xfrm>
            <a:off x="5948171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9820" y="3794759"/>
            <a:ext cx="246202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79820" y="3794759"/>
            <a:ext cx="2462022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7835" y="3904487"/>
            <a:ext cx="224256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03 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7835" y="4105655"/>
            <a:ext cx="224256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Assess severity, suggest route</a:t>
            </a:r>
          </a:p>
        </p:txBody>
      </p:sp>
      <p:sp>
        <p:nvSpPr>
          <p:cNvPr id="43" name="Chevron 42"/>
          <p:cNvSpPr/>
          <p:nvPr/>
        </p:nvSpPr>
        <p:spPr>
          <a:xfrm>
            <a:off x="8672321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03969" y="3794759"/>
            <a:ext cx="246202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03969" y="3794759"/>
            <a:ext cx="2462022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31986" y="3904487"/>
            <a:ext cx="224256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04  HUMAN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31986" y="4105655"/>
            <a:ext cx="224256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Adjuster reviews &amp; approves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9 min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8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avg triage time (was 3.5 hrs)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76344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68952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$4.8M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68952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annual savings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95488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88096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85%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88096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straight-through routing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↓ Triage time   ·   ↓ Manual handoffs   ·   ↑ First-time-right routing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Customer NPS   ·   ↑ Adjuster retention   ·   ↓ Leakage on small claims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Manufacturing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Supply chain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PO exception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PO exception auto-resolve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Nine-step orchestration catches exceptions, diagnoses root cause, and auto-resolves 80%.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553" y="219456"/>
            <a:ext cx="112397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04119" y="27432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5A6B78"/>
                </a:solidFill>
                <a:latin typeface="Poppins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237744"/>
            <a:ext cx="13258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 i="0">
                <a:solidFill>
                  <a:srgbClr val="1A2330"/>
                </a:solidFill>
                <a:latin typeface="Poppins"/>
              </a:rPr>
              <a:t>Siemens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PO exceptions hold up receiving and delay production. Buyers play detective across ERP, vendor portals, and email.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1"/>
            <a:ext cx="111213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21%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62655"/>
            <a:ext cx="111213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of POs with exceptions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6538" y="2633471"/>
            <a:ext cx="111213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$4K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6538" y="2962655"/>
            <a:ext cx="111213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avg cost per exception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5837" y="2633471"/>
            <a:ext cx="111213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3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5837" y="2962655"/>
            <a:ext cx="111213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avg resolution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5136" y="2633471"/>
            <a:ext cx="111213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5136" y="2962655"/>
            <a:ext cx="111213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buyer touch required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1675" y="2075688"/>
            <a:ext cx="4860036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Agents diagnose root cause; bots cross-check ERP, vendor portals, and shipping; buyers handle only ambiguous cases.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1675" y="2633471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1675" y="2633471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7475" y="2633471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7475" y="2633471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7655" y="2633471"/>
            <a:ext cx="12298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77655" y="2633471"/>
            <a:ext cx="12298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API Integration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80676" y="2633471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80676" y="2633471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51675" y="2944367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1675" y="2944367"/>
            <a:ext cx="10927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17536" y="2944367"/>
            <a:ext cx="102412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17536" y="2944367"/>
            <a:ext cx="102412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Data Service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3794759"/>
            <a:ext cx="1029207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Detect PO exception</a:t>
            </a:r>
          </a:p>
        </p:txBody>
      </p:sp>
      <p:sp>
        <p:nvSpPr>
          <p:cNvPr id="41" name="Chevron 40"/>
          <p:cNvSpPr/>
          <p:nvPr/>
        </p:nvSpPr>
        <p:spPr>
          <a:xfrm>
            <a:off x="1779016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925320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925320" y="3794759"/>
            <a:ext cx="1029207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3336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BOT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3336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Pull vendor ack &amp; ASN</a:t>
            </a:r>
          </a:p>
        </p:txBody>
      </p:sp>
      <p:sp>
        <p:nvSpPr>
          <p:cNvPr id="46" name="Chevron 45"/>
          <p:cNvSpPr/>
          <p:nvPr/>
        </p:nvSpPr>
        <p:spPr>
          <a:xfrm>
            <a:off x="2972815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119120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119120" y="3794759"/>
            <a:ext cx="1029207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47136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47136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Diagnose root cause</a:t>
            </a:r>
          </a:p>
        </p:txBody>
      </p:sp>
      <p:sp>
        <p:nvSpPr>
          <p:cNvPr id="51" name="Chevron 50"/>
          <p:cNvSpPr/>
          <p:nvPr/>
        </p:nvSpPr>
        <p:spPr>
          <a:xfrm>
            <a:off x="4166615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12919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12919" y="3794759"/>
            <a:ext cx="1029207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40935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BOT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40935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Check shipping &amp; receiving</a:t>
            </a:r>
          </a:p>
        </p:txBody>
      </p:sp>
      <p:sp>
        <p:nvSpPr>
          <p:cNvPr id="56" name="Chevron 55"/>
          <p:cNvSpPr/>
          <p:nvPr/>
        </p:nvSpPr>
        <p:spPr>
          <a:xfrm>
            <a:off x="5360415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06719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06719" y="3794759"/>
            <a:ext cx="1029207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34735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AGENT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34735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Propose resolution</a:t>
            </a:r>
          </a:p>
        </p:txBody>
      </p:sp>
      <p:sp>
        <p:nvSpPr>
          <p:cNvPr id="61" name="Chevron 60"/>
          <p:cNvSpPr/>
          <p:nvPr/>
        </p:nvSpPr>
        <p:spPr>
          <a:xfrm>
            <a:off x="6554215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700519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700519" y="3794759"/>
            <a:ext cx="1029207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28535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BOT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28535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Apply ERP correction</a:t>
            </a:r>
          </a:p>
        </p:txBody>
      </p:sp>
      <p:sp>
        <p:nvSpPr>
          <p:cNvPr id="66" name="Chevron 65"/>
          <p:cNvSpPr/>
          <p:nvPr/>
        </p:nvSpPr>
        <p:spPr>
          <a:xfrm>
            <a:off x="7748015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894319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894319" y="3794759"/>
            <a:ext cx="1029207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22335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BOT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22335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Notify vendor &amp; buyer</a:t>
            </a:r>
          </a:p>
        </p:txBody>
      </p:sp>
      <p:sp>
        <p:nvSpPr>
          <p:cNvPr id="71" name="Chevron 70"/>
          <p:cNvSpPr/>
          <p:nvPr/>
        </p:nvSpPr>
        <p:spPr>
          <a:xfrm>
            <a:off x="8941815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088119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88119" y="3794759"/>
            <a:ext cx="1029207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16135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HUMAN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16135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Buyer reviews ambiguous</a:t>
            </a:r>
          </a:p>
        </p:txBody>
      </p:sp>
      <p:sp>
        <p:nvSpPr>
          <p:cNvPr id="76" name="Chevron 75"/>
          <p:cNvSpPr/>
          <p:nvPr/>
        </p:nvSpPr>
        <p:spPr>
          <a:xfrm>
            <a:off x="10135615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281919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281919" y="3794759"/>
            <a:ext cx="1029207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409935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BOT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09935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Close exception &amp; log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5120640"/>
            <a:ext cx="210860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9808" y="5212079"/>
            <a:ext cx="165140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80%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9808" y="5614416"/>
            <a:ext cx="1651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auto-resolved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8686" y="5120640"/>
            <a:ext cx="210860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1294" y="5212079"/>
            <a:ext cx="165140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$1.4M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41294" y="5614416"/>
            <a:ext cx="1651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savings per plant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40172" y="5120640"/>
            <a:ext cx="210860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32780" y="5212079"/>
            <a:ext cx="165140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-62%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32780" y="5614416"/>
            <a:ext cx="1651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buyer touch time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31659" y="5120640"/>
            <a:ext cx="210860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624267" y="5212079"/>
            <a:ext cx="165140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8 hrs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24267" y="5614416"/>
            <a:ext cx="1651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avg resolution (was 3d)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623145" y="5120640"/>
            <a:ext cx="210860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915753" y="5212079"/>
            <a:ext cx="165140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4x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915753" y="5614416"/>
            <a:ext cx="1651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throughput per buyer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↓ Resolution time   ·   ↓ Buyer touch time   ·   ↑ Auto-resolution rate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On-time receiving   ·   ↑ Vendor relationships   ·   ↓ Production delays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Technology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Finance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AR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Agentic collections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prioritize accounts; bots reach out; collectors close the complex calls.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4073" y="219456"/>
            <a:ext cx="112397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92640" y="27432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5A6B78"/>
                </a:solidFill>
                <a:latin typeface="Poppins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237744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 i="0">
                <a:solidFill>
                  <a:srgbClr val="1A2330"/>
                </a:solidFill>
                <a:latin typeface="Poppins"/>
              </a:rPr>
              <a:t>Salesforce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AR teams chase low-value accounts manually while high-risk ones go cold. Aging balances inflate and DSO drifts upward.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74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DSO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2972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$12M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2972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in aged receivables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8704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45%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8704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time on low-value accounts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1675" y="2075688"/>
            <a:ext cx="4860036" cy="667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Poppins"/>
              </a:rPr>
              <a:t>Agents prioritize by risk and payment behavior; bots send dunning notices and log disputes; collectors handle the high-touch calls.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1675" y="2852927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1675" y="2852927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3747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747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7765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7765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17835" y="2852927"/>
            <a:ext cx="12298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17835" y="2852927"/>
            <a:ext cx="12298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API Integration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794759"/>
            <a:ext cx="19110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3794759"/>
            <a:ext cx="191109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3904487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01 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4105655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Prioritize by risk score</a:t>
            </a:r>
          </a:p>
        </p:txBody>
      </p:sp>
      <p:sp>
        <p:nvSpPr>
          <p:cNvPr id="35" name="Chevron 34"/>
          <p:cNvSpPr/>
          <p:nvPr/>
        </p:nvSpPr>
        <p:spPr>
          <a:xfrm>
            <a:off x="2673095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04743" y="3794759"/>
            <a:ext cx="19110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904743" y="3794759"/>
            <a:ext cx="191109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32760" y="3904487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02  BOT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32760" y="4105655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Send targeted dunning notices</a:t>
            </a:r>
          </a:p>
        </p:txBody>
      </p:sp>
      <p:sp>
        <p:nvSpPr>
          <p:cNvPr id="40" name="Chevron 39"/>
          <p:cNvSpPr/>
          <p:nvPr/>
        </p:nvSpPr>
        <p:spPr>
          <a:xfrm>
            <a:off x="4846319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77967" y="3794759"/>
            <a:ext cx="19110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77967" y="3794759"/>
            <a:ext cx="191109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05983" y="3904487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03  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05983" y="4105655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Classify customer responses</a:t>
            </a:r>
          </a:p>
        </p:txBody>
      </p:sp>
      <p:sp>
        <p:nvSpPr>
          <p:cNvPr id="45" name="Chevron 44"/>
          <p:cNvSpPr/>
          <p:nvPr/>
        </p:nvSpPr>
        <p:spPr>
          <a:xfrm>
            <a:off x="7019543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51192" y="3794759"/>
            <a:ext cx="19110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251192" y="3794759"/>
            <a:ext cx="1911095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79208" y="3904487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04  HUMAN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79208" y="4105655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Collector handles complex</a:t>
            </a:r>
          </a:p>
        </p:txBody>
      </p:sp>
      <p:sp>
        <p:nvSpPr>
          <p:cNvPr id="50" name="Chevron 49"/>
          <p:cNvSpPr/>
          <p:nvPr/>
        </p:nvSpPr>
        <p:spPr>
          <a:xfrm>
            <a:off x="9192768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424416" y="3794759"/>
            <a:ext cx="19110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424416" y="3794759"/>
            <a:ext cx="191109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2432" y="3904487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05  BOT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52432" y="4105655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Log outcome to Salesforce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5120640"/>
            <a:ext cx="554583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8" y="5212079"/>
            <a:ext cx="508863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21%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8" y="5614416"/>
            <a:ext cx="50886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DSO reduction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85916" y="5120640"/>
            <a:ext cx="554583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78524" y="5212079"/>
            <a:ext cx="508863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$3.8M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78524" y="5614416"/>
            <a:ext cx="50886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aged AR recovered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↓ DSO   ·   ↓ Collector touch per account   ·   ↑ Right-party contact rate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Collector morale   ·   ↓ Customer friction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