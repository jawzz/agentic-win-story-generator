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Healthcare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 Processing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Medical Claim Adjudication</a:t>
            </a:r>
          </a:p>
        </p:txBody>
      </p:sp>
      <p:pic>
        <p:nvPicPr>
          <p:cNvPr id="4" name="Picture 3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01168"/>
            <a:ext cx="1236372" cy="402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Medical claim adjudication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 claims; bots verify eligibility and contracts; humans review edge cases.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9601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200" b="1" i="0">
                <a:solidFill>
                  <a:srgbClr val="1A2330"/>
                </a:solidFill>
                <a:latin typeface="Poppins"/>
              </a:rPr>
              <a:t>Anthem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High-volume inbound medical claims require manual review across clinical codes, member eligibility, and provider contracts.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annual processing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2972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12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2972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average claim processing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8704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8704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inbound claims backlog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1675" y="2075688"/>
            <a:ext cx="4860036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UiPath Agents classify and triage claims by clinical codes; Unattended Robots verify eligibility and contracts automatically.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1675" y="2633471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1675" y="2633471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37475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7475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77655" y="2633471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77655" y="2633471"/>
            <a:ext cx="10927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43515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43515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1675" y="2944367"/>
            <a:ext cx="102412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1675" y="2944367"/>
            <a:ext cx="102412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Data Service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01  BOT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Ingest and parse claim documents</a:t>
            </a:r>
          </a:p>
        </p:txBody>
      </p:sp>
      <p:sp>
        <p:nvSpPr>
          <p:cNvPr id="36" name="Chevron 35"/>
          <p:cNvSpPr/>
          <p:nvPr/>
        </p:nvSpPr>
        <p:spPr>
          <a:xfrm>
            <a:off x="2104861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72501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72501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00517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02 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00517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Classify by clinical codes and risk</a:t>
            </a:r>
          </a:p>
        </p:txBody>
      </p:sp>
      <p:sp>
        <p:nvSpPr>
          <p:cNvPr id="41" name="Chevron 40"/>
          <p:cNvSpPr/>
          <p:nvPr/>
        </p:nvSpPr>
        <p:spPr>
          <a:xfrm>
            <a:off x="3645843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13483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13483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41499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03  BOT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41499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Verify member eligibility automatically</a:t>
            </a:r>
          </a:p>
        </p:txBody>
      </p:sp>
      <p:sp>
        <p:nvSpPr>
          <p:cNvPr id="46" name="Chevron 45"/>
          <p:cNvSpPr/>
          <p:nvPr/>
        </p:nvSpPr>
        <p:spPr>
          <a:xfrm>
            <a:off x="5186825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354465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54465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2481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04  BOT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2481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Validate provider contract terms</a:t>
            </a:r>
          </a:p>
        </p:txBody>
      </p:sp>
      <p:sp>
        <p:nvSpPr>
          <p:cNvPr id="51" name="Chevron 50"/>
          <p:cNvSpPr/>
          <p:nvPr/>
        </p:nvSpPr>
        <p:spPr>
          <a:xfrm>
            <a:off x="6727806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95446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95446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23462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05  AGENT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462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Route routine claims for approval</a:t>
            </a:r>
          </a:p>
        </p:txBody>
      </p:sp>
      <p:sp>
        <p:nvSpPr>
          <p:cNvPr id="56" name="Chevron 55"/>
          <p:cNvSpPr/>
          <p:nvPr/>
        </p:nvSpPr>
        <p:spPr>
          <a:xfrm>
            <a:off x="8268788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436428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36428" y="3794759"/>
            <a:ext cx="1352005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64444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06  HUMAN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64444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Review and adjudicate exceptions</a:t>
            </a:r>
          </a:p>
        </p:txBody>
      </p:sp>
      <p:sp>
        <p:nvSpPr>
          <p:cNvPr id="61" name="Chevron 60"/>
          <p:cNvSpPr/>
          <p:nvPr/>
        </p:nvSpPr>
        <p:spPr>
          <a:xfrm>
            <a:off x="9809770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97741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97741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0542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07  BOT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0542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Issue reimbursement and notifications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9808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808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annual savings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76344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68952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10 days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68952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cycle time reduction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95488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88096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2 days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88096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new avg processing time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1A2330"/>
                </a:solidFill>
                <a:latin typeface="Poppins"/>
              </a:rPr>
              <a:t>↓ Days in claims queue   ·   ↓ Manual review touches   ·   ↑ First-pass approval rate   ·   ↑ Provider satisfaction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Staff retention   ·   ↑ Member and provider NPS   ·   ↓ Compliance 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